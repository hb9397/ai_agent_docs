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026" autoAdjust="0"/>
    <p:restoredTop sz="94610"/>
  </p:normalViewPr>
  <p:slideViewPr>
    <p:cSldViewPr snapToGrid="0" snapToObjects="1">
      <p:cViewPr varScale="1">
        <p:scale>
          <a:sx n="149" d="100"/>
          <a:sy n="149" d="100"/>
        </p:scale>
        <p:origin x="312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931455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notion.so/AI-30531c9ba56180529f93d788c26f9b14?source=copy_link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F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79492"/>
            <a:ext cx="9144000" cy="64008"/>
          </a:xfrm>
          <a:prstGeom prst="rect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486400" y="251460"/>
            <a:ext cx="3474720" cy="3474720"/>
          </a:xfrm>
          <a:prstGeom prst="ellipse">
            <a:avLst/>
          </a:prstGeom>
          <a:solidFill>
            <a:srgbClr val="1E2761"/>
          </a:solidFill>
          <a:ln w="19050">
            <a:solidFill>
              <a:srgbClr val="4FC3F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943600" y="708660"/>
            <a:ext cx="2560320" cy="2560320"/>
          </a:xfrm>
          <a:prstGeom prst="ellipse">
            <a:avLst/>
          </a:prstGeom>
          <a:solidFill>
            <a:srgbClr val="252D4D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0" y="708660"/>
            <a:ext cx="256032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800" dirty="0">
                <a:solidFill>
                  <a:srgbClr val="000000"/>
                </a:solidFill>
              </a:rPr>
              <a:t>🤖</a:t>
            </a:r>
            <a:endParaRPr lang="en-US" sz="5800" dirty="0"/>
          </a:p>
        </p:txBody>
      </p:sp>
      <p:sp>
        <p:nvSpPr>
          <p:cNvPr id="7" name="Text 5"/>
          <p:cNvSpPr/>
          <p:nvPr/>
        </p:nvSpPr>
        <p:spPr>
          <a:xfrm>
            <a:off x="640080" y="594360"/>
            <a:ext cx="5943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AI Agent</a:t>
            </a:r>
            <a:endParaRPr lang="en-US" sz="5800" dirty="0"/>
          </a:p>
        </p:txBody>
      </p:sp>
      <p:sp>
        <p:nvSpPr>
          <p:cNvPr id="8" name="Text 6"/>
          <p:cNvSpPr/>
          <p:nvPr/>
        </p:nvSpPr>
        <p:spPr>
          <a:xfrm>
            <a:off x="640080" y="1600200"/>
            <a:ext cx="5943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3600" b="1" dirty="0">
                <a:solidFill>
                  <a:srgbClr val="4FC3F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활용한 개발 환경 소개</a:t>
            </a:r>
            <a:endParaRPr lang="en-US" sz="3600" dirty="0"/>
          </a:p>
        </p:txBody>
      </p:sp>
      <p:sp>
        <p:nvSpPr>
          <p:cNvPr id="9" name="Shape 7"/>
          <p:cNvSpPr/>
          <p:nvPr/>
        </p:nvSpPr>
        <p:spPr>
          <a:xfrm>
            <a:off x="640080" y="2487168"/>
            <a:ext cx="2011680" cy="45720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40080" y="2633472"/>
            <a:ext cx="1828800" cy="384048"/>
          </a:xfrm>
          <a:prstGeom prst="rect">
            <a:avLst/>
          </a:prstGeom>
          <a:solidFill>
            <a:srgbClr val="252D4D"/>
          </a:solidFill>
          <a:ln w="12700">
            <a:solidFill>
              <a:srgbClr val="4FC3F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0080" y="2633472"/>
            <a:ext cx="1828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C8DCFC"/>
                </a:solidFill>
              </a:rPr>
              <a:t>AI Docs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651760" y="2633472"/>
            <a:ext cx="1828800" cy="384048"/>
          </a:xfrm>
          <a:prstGeom prst="rect">
            <a:avLst/>
          </a:prstGeom>
          <a:solidFill>
            <a:srgbClr val="252D4D"/>
          </a:solidFill>
          <a:ln w="12700">
            <a:solidFill>
              <a:srgbClr val="4FC3F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651760" y="2633472"/>
            <a:ext cx="1828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C8DCFC"/>
                </a:solidFill>
              </a:rPr>
              <a:t>Skills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663440" y="2633472"/>
            <a:ext cx="1828800" cy="384048"/>
          </a:xfrm>
          <a:prstGeom prst="rect">
            <a:avLst/>
          </a:prstGeom>
          <a:solidFill>
            <a:srgbClr val="252D4D"/>
          </a:solidFill>
          <a:ln w="12700">
            <a:solidFill>
              <a:srgbClr val="4FC3F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663440" y="2633472"/>
            <a:ext cx="1828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C8DCFC"/>
                </a:solidFill>
              </a:rPr>
              <a:t>Commands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40080" y="3108960"/>
            <a:ext cx="1828800" cy="384048"/>
          </a:xfrm>
          <a:prstGeom prst="rect">
            <a:avLst/>
          </a:prstGeom>
          <a:solidFill>
            <a:srgbClr val="252D4D"/>
          </a:solidFill>
          <a:ln w="12700">
            <a:solidFill>
              <a:srgbClr val="4FC3F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0080" y="3108960"/>
            <a:ext cx="1828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C8DCFC"/>
                </a:solidFill>
              </a:rPr>
              <a:t>Hooks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2651760" y="3108960"/>
            <a:ext cx="1828800" cy="384048"/>
          </a:xfrm>
          <a:prstGeom prst="rect">
            <a:avLst/>
          </a:prstGeom>
          <a:solidFill>
            <a:srgbClr val="252D4D"/>
          </a:solidFill>
          <a:ln w="12700">
            <a:solidFill>
              <a:srgbClr val="4FC3F7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651760" y="3108960"/>
            <a:ext cx="1828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C8DCFC"/>
                </a:solidFill>
              </a:rPr>
              <a:t>MCP &amp; Plugin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663440" y="3108960"/>
            <a:ext cx="1828800" cy="384048"/>
          </a:xfrm>
          <a:prstGeom prst="rect">
            <a:avLst/>
          </a:prstGeom>
          <a:solidFill>
            <a:srgbClr val="252D4D"/>
          </a:solidFill>
          <a:ln w="12700">
            <a:solidFill>
              <a:srgbClr val="4FC3F7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663440" y="3108960"/>
            <a:ext cx="1828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C8DCFC"/>
                </a:solidFill>
              </a:rPr>
              <a:t>Subagent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-195029" y="4626864"/>
            <a:ext cx="953405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altLang="ko-KR" sz="1050" b="1" dirty="0">
                <a:solidFill>
                  <a:srgbClr val="8899BB"/>
                </a:solidFill>
              </a:rPr>
              <a:t>| </a:t>
            </a:r>
            <a:r>
              <a:rPr lang="en-US" sz="1050" b="1" dirty="0" err="1">
                <a:solidFill>
                  <a:srgbClr val="8899BB"/>
                </a:solidFill>
              </a:rPr>
              <a:t>최종</a:t>
            </a:r>
            <a:r>
              <a:rPr lang="en-US" sz="1050" b="1" dirty="0">
                <a:solidFill>
                  <a:srgbClr val="8899BB"/>
                </a:solidFill>
              </a:rPr>
              <a:t> 업데이트</a:t>
            </a:r>
            <a:r>
              <a:rPr lang="en-US" sz="1050" dirty="0">
                <a:solidFill>
                  <a:srgbClr val="8899BB"/>
                </a:solidFill>
              </a:rPr>
              <a:t>: 2026-02-24  </a:t>
            </a:r>
            <a:r>
              <a:rPr lang="en-US" sz="1050" b="1" dirty="0">
                <a:solidFill>
                  <a:srgbClr val="8899BB"/>
                </a:solidFill>
              </a:rPr>
              <a:t>|</a:t>
            </a:r>
            <a:r>
              <a:rPr lang="en-US" sz="1050" dirty="0">
                <a:solidFill>
                  <a:srgbClr val="8899BB"/>
                </a:solidFill>
              </a:rPr>
              <a:t>  </a:t>
            </a:r>
            <a:r>
              <a:rPr lang="en-US" sz="1050" b="1" dirty="0">
                <a:solidFill>
                  <a:srgbClr val="8899BB"/>
                </a:solidFill>
              </a:rPr>
              <a:t>대상</a:t>
            </a:r>
            <a:r>
              <a:rPr lang="en-US" sz="1050" dirty="0">
                <a:solidFill>
                  <a:srgbClr val="8899BB"/>
                </a:solidFill>
              </a:rPr>
              <a:t>: Claude Code · OpenAI Codex · Gemini · Google Antigravity · </a:t>
            </a:r>
            <a:r>
              <a:rPr lang="en-US" sz="1050" dirty="0" err="1">
                <a:solidFill>
                  <a:srgbClr val="8899BB"/>
                </a:solidFill>
              </a:rPr>
              <a:t>VSCode</a:t>
            </a:r>
            <a:r>
              <a:rPr lang="en-US" sz="1050" dirty="0">
                <a:solidFill>
                  <a:srgbClr val="8899BB"/>
                </a:solidFill>
              </a:rPr>
              <a:t> </a:t>
            </a:r>
            <a:r>
              <a:rPr lang="en-US" sz="1050" b="1" dirty="0">
                <a:solidFill>
                  <a:srgbClr val="8899BB"/>
                </a:solidFill>
              </a:rPr>
              <a:t>|</a:t>
            </a:r>
            <a:r>
              <a:rPr lang="en-US" sz="1050" dirty="0">
                <a:solidFill>
                  <a:srgbClr val="8899BB"/>
                </a:solidFill>
              </a:rPr>
              <a:t> </a:t>
            </a:r>
            <a:r>
              <a:rPr lang="ko-KR" altLang="en-US" sz="1050" b="1" dirty="0">
                <a:solidFill>
                  <a:srgbClr val="8899BB"/>
                </a:solidFill>
              </a:rPr>
              <a:t>가이드문서</a:t>
            </a:r>
            <a:r>
              <a:rPr lang="ko-KR" altLang="en-US" sz="1050" dirty="0">
                <a:solidFill>
                  <a:srgbClr val="8899BB"/>
                </a:solidFill>
              </a:rPr>
              <a:t> </a:t>
            </a:r>
            <a:r>
              <a:rPr lang="en-US" altLang="ko-KR" sz="1050" dirty="0">
                <a:solidFill>
                  <a:srgbClr val="8899BB"/>
                </a:solidFill>
              </a:rPr>
              <a:t>: </a:t>
            </a:r>
            <a:r>
              <a:rPr lang="en-US" altLang="ko-KR" sz="1050" dirty="0">
                <a:solidFill>
                  <a:srgbClr val="8899BB"/>
                </a:solidFill>
                <a:hlinkClick r:id="rId3"/>
              </a:rPr>
              <a:t>AI </a:t>
            </a:r>
            <a:r>
              <a:rPr lang="ko-KR" altLang="en-US" sz="1050" dirty="0">
                <a:solidFill>
                  <a:srgbClr val="8899BB"/>
                </a:solidFill>
                <a:hlinkClick r:id="rId3"/>
              </a:rPr>
              <a:t>가이드 및 자동화 제어</a:t>
            </a:r>
            <a:r>
              <a:rPr lang="en-US" altLang="ko-KR" sz="1050" dirty="0">
                <a:solidFill>
                  <a:srgbClr val="8899BB"/>
                </a:solidFill>
                <a:hlinkClick r:id="rId3"/>
              </a:rPr>
              <a:t>(</a:t>
            </a:r>
            <a:r>
              <a:rPr lang="ko-KR" altLang="en-US" sz="1050" dirty="0">
                <a:solidFill>
                  <a:srgbClr val="8899BB"/>
                </a:solidFill>
                <a:hlinkClick r:id="rId3"/>
              </a:rPr>
              <a:t>개발환경 세팅</a:t>
            </a:r>
            <a:r>
              <a:rPr lang="en-US" altLang="ko-KR" sz="1050" dirty="0">
                <a:solidFill>
                  <a:srgbClr val="8899BB"/>
                </a:solidFill>
                <a:hlinkClick r:id="rId3"/>
              </a:rPr>
              <a:t>)</a:t>
            </a:r>
            <a:r>
              <a:rPr lang="en-US" altLang="ko-KR" sz="1050" b="1" dirty="0">
                <a:solidFill>
                  <a:srgbClr val="8899BB"/>
                </a:solidFill>
              </a:rPr>
              <a:t>|</a:t>
            </a:r>
            <a:endParaRPr lang="en-US" sz="1050" dirty="0">
              <a:solidFill>
                <a:srgbClr val="8899BB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7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82880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76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AI Agent란? &amp; 전체 구성 요소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65760" y="841248"/>
            <a:ext cx="8633982" cy="749808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  <a:effectLst>
            <a:outerShdw blurRad="101600" dist="254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06437" y="832104"/>
            <a:ext cx="841248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FFFFFF"/>
                </a:solidFill>
              </a:rPr>
              <a:t>목표를 주면 스스로 계획을 세우고, 도구를 사용하고, 결과를 검토하며 작업을 </a:t>
            </a:r>
            <a:r>
              <a:rPr lang="en-US" sz="1500" dirty="0" err="1">
                <a:solidFill>
                  <a:srgbClr val="FFFFFF"/>
                </a:solidFill>
              </a:rPr>
              <a:t>완료하는</a:t>
            </a:r>
            <a:r>
              <a:rPr lang="en-US" sz="1500" dirty="0">
                <a:solidFill>
                  <a:srgbClr val="FFFFFF"/>
                </a:solidFill>
              </a:rPr>
              <a:t>  </a:t>
            </a:r>
            <a:br>
              <a:rPr lang="en-US" sz="1500" dirty="0">
                <a:solidFill>
                  <a:srgbClr val="FFFFFF"/>
                </a:solidFill>
              </a:rPr>
            </a:br>
            <a:r>
              <a:rPr lang="en-US" sz="1500" b="1" dirty="0" err="1">
                <a:solidFill>
                  <a:srgbClr val="4FC3F7"/>
                </a:solidFill>
              </a:rPr>
              <a:t>자율적인</a:t>
            </a:r>
            <a:r>
              <a:rPr lang="en-US" sz="1500" b="1" dirty="0">
                <a:solidFill>
                  <a:srgbClr val="4FC3F7"/>
                </a:solidFill>
              </a:rPr>
              <a:t> AI 실행 단위</a:t>
            </a:r>
            <a:endParaRPr lang="en-US" sz="1500" dirty="0"/>
          </a:p>
        </p:txBody>
      </p:sp>
      <p:grpSp>
        <p:nvGrpSpPr>
          <p:cNvPr id="69" name="그룹 68">
            <a:extLst>
              <a:ext uri="{FF2B5EF4-FFF2-40B4-BE49-F238E27FC236}">
                <a16:creationId xmlns:a16="http://schemas.microsoft.com/office/drawing/2014/main" id="{15CC18E4-24BF-49D5-BA73-3125DB258BC7}"/>
              </a:ext>
            </a:extLst>
          </p:cNvPr>
          <p:cNvGrpSpPr/>
          <p:nvPr/>
        </p:nvGrpSpPr>
        <p:grpSpPr>
          <a:xfrm>
            <a:off x="365755" y="3089074"/>
            <a:ext cx="8633987" cy="1234440"/>
            <a:chOff x="365755" y="1755648"/>
            <a:chExt cx="8633987" cy="1234440"/>
          </a:xfrm>
        </p:grpSpPr>
        <p:grpSp>
          <p:nvGrpSpPr>
            <p:cNvPr id="67" name="그룹 66">
              <a:extLst>
                <a:ext uri="{FF2B5EF4-FFF2-40B4-BE49-F238E27FC236}">
                  <a16:creationId xmlns:a16="http://schemas.microsoft.com/office/drawing/2014/main" id="{8B1E077C-9F9F-4C41-BA0A-614FFC025584}"/>
                </a:ext>
              </a:extLst>
            </p:cNvPr>
            <p:cNvGrpSpPr/>
            <p:nvPr/>
          </p:nvGrpSpPr>
          <p:grpSpPr>
            <a:xfrm>
              <a:off x="365755" y="1755648"/>
              <a:ext cx="1353312" cy="1234440"/>
              <a:chOff x="148350" y="1755648"/>
              <a:chExt cx="1353312" cy="1234440"/>
            </a:xfrm>
          </p:grpSpPr>
          <p:sp>
            <p:nvSpPr>
              <p:cNvPr id="6" name="Shape 4"/>
              <p:cNvSpPr/>
              <p:nvPr/>
            </p:nvSpPr>
            <p:spPr>
              <a:xfrm>
                <a:off x="148350" y="1755648"/>
                <a:ext cx="1353312" cy="1234440"/>
              </a:xfrm>
              <a:prstGeom prst="rect">
                <a:avLst/>
              </a:prstGeom>
              <a:solidFill>
                <a:srgbClr val="FFFFFF"/>
              </a:solidFill>
              <a:ln w="25400">
                <a:solidFill>
                  <a:srgbClr val="34D399"/>
                </a:solidFill>
                <a:prstDash val="solid"/>
              </a:ln>
              <a:effectLst>
                <a:outerShdw blurRad="101600" dist="25400" dir="8100000" algn="bl" rotWithShape="0">
                  <a:srgbClr val="000000">
                    <a:alpha val="15000"/>
                  </a:srgbClr>
                </a:outerShdw>
              </a:effectLst>
            </p:spPr>
          </p:sp>
          <p:sp>
            <p:nvSpPr>
              <p:cNvPr id="7" name="Shape 5"/>
              <p:cNvSpPr/>
              <p:nvPr/>
            </p:nvSpPr>
            <p:spPr>
              <a:xfrm>
                <a:off x="148350" y="1755648"/>
                <a:ext cx="1353312" cy="45720"/>
              </a:xfrm>
              <a:prstGeom prst="rect">
                <a:avLst/>
              </a:prstGeom>
              <a:solidFill>
                <a:srgbClr val="34D399"/>
              </a:solidFill>
              <a:ln w="12700">
                <a:solidFill>
                  <a:srgbClr val="34D399"/>
                </a:solidFill>
                <a:prstDash val="solid"/>
              </a:ln>
            </p:spPr>
          </p:sp>
          <p:sp>
            <p:nvSpPr>
              <p:cNvPr id="8" name="Text 6"/>
              <p:cNvSpPr/>
              <p:nvPr/>
            </p:nvSpPr>
            <p:spPr>
              <a:xfrm>
                <a:off x="148350" y="1828800"/>
                <a:ext cx="1353312" cy="438912"/>
              </a:xfrm>
              <a:prstGeom prst="rect">
                <a:avLst/>
              </a:prstGeom>
              <a:noFill/>
              <a:ln/>
            </p:spPr>
            <p:txBody>
              <a:bodyPr wrap="square" rtlCol="0" anchor="ctr"/>
              <a:lstStyle/>
              <a:p>
                <a:pPr marL="0" indent="0" algn="ctr">
                  <a:buNone/>
                </a:pPr>
                <a:r>
                  <a:rPr lang="en-US" sz="2200" dirty="0">
                    <a:solidFill>
                      <a:srgbClr val="000000"/>
                    </a:solidFill>
                  </a:rPr>
                  <a:t>📄</a:t>
                </a:r>
                <a:endParaRPr lang="en-US" sz="2200" dirty="0"/>
              </a:p>
            </p:txBody>
          </p:sp>
          <p:sp>
            <p:nvSpPr>
              <p:cNvPr id="9" name="Text 7"/>
              <p:cNvSpPr/>
              <p:nvPr/>
            </p:nvSpPr>
            <p:spPr>
              <a:xfrm>
                <a:off x="221502" y="2286000"/>
                <a:ext cx="1207008" cy="292608"/>
              </a:xfrm>
              <a:prstGeom prst="rect">
                <a:avLst/>
              </a:prstGeom>
              <a:noFill/>
              <a:ln/>
            </p:spPr>
            <p:txBody>
              <a:bodyPr wrap="square" rtlCol="0" anchor="ctr"/>
              <a:lstStyle/>
              <a:p>
                <a:pPr marL="0" indent="0" algn="ctr">
                  <a:buNone/>
                </a:pPr>
                <a:r>
                  <a:rPr lang="en-US" sz="1300" b="1" dirty="0">
                    <a:solidFill>
                      <a:srgbClr val="34D399"/>
                    </a:solidFill>
                    <a:latin typeface="Arial Black" pitchFamily="34" charset="0"/>
                    <a:ea typeface="Arial Black" pitchFamily="34" charset="-122"/>
                    <a:cs typeface="Arial Black" pitchFamily="34" charset="-120"/>
                  </a:rPr>
                  <a:t>AI Docs</a:t>
                </a:r>
                <a:endParaRPr lang="en-US" sz="1300" dirty="0"/>
              </a:p>
            </p:txBody>
          </p:sp>
          <p:sp>
            <p:nvSpPr>
              <p:cNvPr id="10" name="Text 8"/>
              <p:cNvSpPr/>
              <p:nvPr/>
            </p:nvSpPr>
            <p:spPr>
              <a:xfrm>
                <a:off x="221502" y="2578608"/>
                <a:ext cx="1207008" cy="347472"/>
              </a:xfrm>
              <a:prstGeom prst="rect">
                <a:avLst/>
              </a:prstGeom>
              <a:noFill/>
              <a:ln/>
            </p:spPr>
            <p:txBody>
              <a:bodyPr wrap="square" rtlCol="0" anchor="ctr"/>
              <a:lstStyle/>
              <a:p>
                <a:pPr marL="0" indent="0" algn="ctr">
                  <a:buNone/>
                </a:pPr>
                <a:r>
                  <a:rPr lang="en-US" sz="1100" dirty="0">
                    <a:solidFill>
                      <a:srgbClr val="8899BB"/>
                    </a:solidFill>
                  </a:rPr>
                  <a:t>프로젝트 맥락 전달 문서</a:t>
                </a:r>
                <a:endParaRPr lang="en-US" sz="1100" dirty="0"/>
              </a:p>
            </p:txBody>
          </p:sp>
        </p:grpSp>
        <p:grpSp>
          <p:nvGrpSpPr>
            <p:cNvPr id="62" name="그룹 61">
              <a:extLst>
                <a:ext uri="{FF2B5EF4-FFF2-40B4-BE49-F238E27FC236}">
                  <a16:creationId xmlns:a16="http://schemas.microsoft.com/office/drawing/2014/main" id="{E95BA307-65BB-484B-B085-983BC25724D0}"/>
                </a:ext>
              </a:extLst>
            </p:cNvPr>
            <p:cNvGrpSpPr/>
            <p:nvPr/>
          </p:nvGrpSpPr>
          <p:grpSpPr>
            <a:xfrm>
              <a:off x="1839794" y="1755648"/>
              <a:ext cx="1353312" cy="1234440"/>
              <a:chOff x="1647966" y="1755648"/>
              <a:chExt cx="1353312" cy="1234440"/>
            </a:xfrm>
          </p:grpSpPr>
          <p:sp>
            <p:nvSpPr>
              <p:cNvPr id="11" name="Shape 9"/>
              <p:cNvSpPr/>
              <p:nvPr/>
            </p:nvSpPr>
            <p:spPr>
              <a:xfrm>
                <a:off x="1647966" y="1755648"/>
                <a:ext cx="1353312" cy="1234440"/>
              </a:xfrm>
              <a:prstGeom prst="rect">
                <a:avLst/>
              </a:prstGeom>
              <a:solidFill>
                <a:srgbClr val="FFFFFF"/>
              </a:solidFill>
              <a:ln w="25400">
                <a:solidFill>
                  <a:srgbClr val="4FC3F7"/>
                </a:solidFill>
                <a:prstDash val="solid"/>
              </a:ln>
              <a:effectLst>
                <a:outerShdw blurRad="101600" dist="25400" dir="8100000" algn="bl" rotWithShape="0">
                  <a:srgbClr val="000000">
                    <a:alpha val="15000"/>
                  </a:srgbClr>
                </a:outerShdw>
              </a:effectLst>
            </p:spPr>
          </p:sp>
          <p:sp>
            <p:nvSpPr>
              <p:cNvPr id="12" name="Shape 10"/>
              <p:cNvSpPr/>
              <p:nvPr/>
            </p:nvSpPr>
            <p:spPr>
              <a:xfrm>
                <a:off x="1647966" y="1755648"/>
                <a:ext cx="1353312" cy="45720"/>
              </a:xfrm>
              <a:prstGeom prst="rect">
                <a:avLst/>
              </a:prstGeom>
              <a:solidFill>
                <a:srgbClr val="4FC3F7"/>
              </a:solidFill>
              <a:ln w="12700">
                <a:solidFill>
                  <a:srgbClr val="4FC3F7"/>
                </a:solidFill>
                <a:prstDash val="solid"/>
              </a:ln>
            </p:spPr>
          </p:sp>
          <p:sp>
            <p:nvSpPr>
              <p:cNvPr id="13" name="Text 11"/>
              <p:cNvSpPr/>
              <p:nvPr/>
            </p:nvSpPr>
            <p:spPr>
              <a:xfrm>
                <a:off x="1647966" y="1828800"/>
                <a:ext cx="1353312" cy="438912"/>
              </a:xfrm>
              <a:prstGeom prst="rect">
                <a:avLst/>
              </a:prstGeom>
              <a:noFill/>
              <a:ln/>
            </p:spPr>
            <p:txBody>
              <a:bodyPr wrap="square" rtlCol="0" anchor="ctr"/>
              <a:lstStyle/>
              <a:p>
                <a:pPr marL="0" indent="0" algn="ctr">
                  <a:buNone/>
                </a:pPr>
                <a:r>
                  <a:rPr lang="en-US" sz="2200" dirty="0">
                    <a:solidFill>
                      <a:srgbClr val="000000"/>
                    </a:solidFill>
                  </a:rPr>
                  <a:t>🛠</a:t>
                </a:r>
                <a:endParaRPr lang="en-US" sz="2200" dirty="0"/>
              </a:p>
            </p:txBody>
          </p:sp>
          <p:sp>
            <p:nvSpPr>
              <p:cNvPr id="14" name="Text 12"/>
              <p:cNvSpPr/>
              <p:nvPr/>
            </p:nvSpPr>
            <p:spPr>
              <a:xfrm>
                <a:off x="1721118" y="2286000"/>
                <a:ext cx="1207008" cy="292608"/>
              </a:xfrm>
              <a:prstGeom prst="rect">
                <a:avLst/>
              </a:prstGeom>
              <a:noFill/>
              <a:ln/>
            </p:spPr>
            <p:txBody>
              <a:bodyPr wrap="square" rtlCol="0" anchor="ctr"/>
              <a:lstStyle/>
              <a:p>
                <a:pPr marL="0" indent="0" algn="ctr">
                  <a:buNone/>
                </a:pPr>
                <a:r>
                  <a:rPr lang="en-US" sz="1300" b="1" dirty="0">
                    <a:solidFill>
                      <a:srgbClr val="4FC3F7"/>
                    </a:solidFill>
                    <a:latin typeface="Arial Black" pitchFamily="34" charset="0"/>
                    <a:ea typeface="Arial Black" pitchFamily="34" charset="-122"/>
                    <a:cs typeface="Arial Black" pitchFamily="34" charset="-120"/>
                  </a:rPr>
                  <a:t>Skills</a:t>
                </a:r>
                <a:endParaRPr lang="en-US" sz="1300" dirty="0"/>
              </a:p>
            </p:txBody>
          </p:sp>
          <p:sp>
            <p:nvSpPr>
              <p:cNvPr id="15" name="Text 13"/>
              <p:cNvSpPr/>
              <p:nvPr/>
            </p:nvSpPr>
            <p:spPr>
              <a:xfrm>
                <a:off x="1721118" y="2578608"/>
                <a:ext cx="1207008" cy="347472"/>
              </a:xfrm>
              <a:prstGeom prst="rect">
                <a:avLst/>
              </a:prstGeom>
              <a:noFill/>
              <a:ln/>
            </p:spPr>
            <p:txBody>
              <a:bodyPr wrap="square" rtlCol="0" anchor="ctr"/>
              <a:lstStyle/>
              <a:p>
                <a:pPr marL="0" indent="0" algn="ctr">
                  <a:buNone/>
                </a:pPr>
                <a:r>
                  <a:rPr lang="en-US" sz="1100" dirty="0">
                    <a:solidFill>
                      <a:srgbClr val="8899BB"/>
                    </a:solidFill>
                  </a:rPr>
                  <a:t>재사용 가능한 작업 단위</a:t>
                </a:r>
                <a:endParaRPr lang="en-US" sz="1100" dirty="0"/>
              </a:p>
            </p:txBody>
          </p:sp>
        </p:grpSp>
        <p:grpSp>
          <p:nvGrpSpPr>
            <p:cNvPr id="63" name="그룹 62">
              <a:extLst>
                <a:ext uri="{FF2B5EF4-FFF2-40B4-BE49-F238E27FC236}">
                  <a16:creationId xmlns:a16="http://schemas.microsoft.com/office/drawing/2014/main" id="{E9714A03-C841-4A1A-AB43-38F2CF57BB99}"/>
                </a:ext>
              </a:extLst>
            </p:cNvPr>
            <p:cNvGrpSpPr/>
            <p:nvPr/>
          </p:nvGrpSpPr>
          <p:grpSpPr>
            <a:xfrm>
              <a:off x="3294649" y="1755648"/>
              <a:ext cx="1353312" cy="1234440"/>
              <a:chOff x="3147582" y="1755648"/>
              <a:chExt cx="1353312" cy="1234440"/>
            </a:xfrm>
          </p:grpSpPr>
          <p:sp>
            <p:nvSpPr>
              <p:cNvPr id="16" name="Shape 14"/>
              <p:cNvSpPr/>
              <p:nvPr/>
            </p:nvSpPr>
            <p:spPr>
              <a:xfrm>
                <a:off x="3147582" y="1755648"/>
                <a:ext cx="1353312" cy="1234440"/>
              </a:xfrm>
              <a:prstGeom prst="rect">
                <a:avLst/>
              </a:prstGeom>
              <a:solidFill>
                <a:srgbClr val="FFFFFF"/>
              </a:solidFill>
              <a:ln w="25400">
                <a:solidFill>
                  <a:srgbClr val="FBBF24"/>
                </a:solidFill>
                <a:prstDash val="solid"/>
              </a:ln>
              <a:effectLst>
                <a:outerShdw blurRad="101600" dist="25400" dir="8100000" algn="bl" rotWithShape="0">
                  <a:srgbClr val="000000">
                    <a:alpha val="15000"/>
                  </a:srgbClr>
                </a:outerShdw>
              </a:effectLst>
            </p:spPr>
          </p:sp>
          <p:sp>
            <p:nvSpPr>
              <p:cNvPr id="17" name="Shape 15"/>
              <p:cNvSpPr/>
              <p:nvPr/>
            </p:nvSpPr>
            <p:spPr>
              <a:xfrm>
                <a:off x="3147582" y="1755648"/>
                <a:ext cx="1353312" cy="45720"/>
              </a:xfrm>
              <a:prstGeom prst="rect">
                <a:avLst/>
              </a:prstGeom>
              <a:solidFill>
                <a:srgbClr val="FBBF24"/>
              </a:solidFill>
              <a:ln w="12700">
                <a:solidFill>
                  <a:srgbClr val="FBBF24"/>
                </a:solidFill>
                <a:prstDash val="solid"/>
              </a:ln>
            </p:spPr>
          </p:sp>
          <p:sp>
            <p:nvSpPr>
              <p:cNvPr id="18" name="Text 16"/>
              <p:cNvSpPr/>
              <p:nvPr/>
            </p:nvSpPr>
            <p:spPr>
              <a:xfrm>
                <a:off x="3147582" y="1828800"/>
                <a:ext cx="1353312" cy="438912"/>
              </a:xfrm>
              <a:prstGeom prst="rect">
                <a:avLst/>
              </a:prstGeom>
              <a:noFill/>
              <a:ln/>
            </p:spPr>
            <p:txBody>
              <a:bodyPr wrap="square" rtlCol="0" anchor="ctr"/>
              <a:lstStyle/>
              <a:p>
                <a:pPr marL="0" indent="0" algn="ctr">
                  <a:buNone/>
                </a:pPr>
                <a:r>
                  <a:rPr lang="en-US" sz="2200" dirty="0">
                    <a:solidFill>
                      <a:srgbClr val="000000"/>
                    </a:solidFill>
                  </a:rPr>
                  <a:t>⌨️</a:t>
                </a:r>
                <a:endParaRPr lang="en-US" sz="2200" dirty="0"/>
              </a:p>
            </p:txBody>
          </p:sp>
          <p:sp>
            <p:nvSpPr>
              <p:cNvPr id="19" name="Text 17"/>
              <p:cNvSpPr/>
              <p:nvPr/>
            </p:nvSpPr>
            <p:spPr>
              <a:xfrm>
                <a:off x="3220734" y="2286000"/>
                <a:ext cx="1207008" cy="292608"/>
              </a:xfrm>
              <a:prstGeom prst="rect">
                <a:avLst/>
              </a:prstGeom>
              <a:noFill/>
              <a:ln/>
            </p:spPr>
            <p:txBody>
              <a:bodyPr wrap="square" rtlCol="0" anchor="ctr"/>
              <a:lstStyle/>
              <a:p>
                <a:pPr marL="0" indent="0" algn="ctr">
                  <a:buNone/>
                </a:pPr>
                <a:r>
                  <a:rPr lang="en-US" sz="1300" b="1" dirty="0">
                    <a:solidFill>
                      <a:srgbClr val="FBBF24"/>
                    </a:solidFill>
                    <a:latin typeface="Arial Black" pitchFamily="34" charset="0"/>
                    <a:ea typeface="Arial Black" pitchFamily="34" charset="-122"/>
                    <a:cs typeface="Arial Black" pitchFamily="34" charset="-120"/>
                  </a:rPr>
                  <a:t>Commands</a:t>
                </a:r>
                <a:endParaRPr lang="en-US" sz="1300" dirty="0"/>
              </a:p>
            </p:txBody>
          </p:sp>
          <p:sp>
            <p:nvSpPr>
              <p:cNvPr id="20" name="Text 18"/>
              <p:cNvSpPr/>
              <p:nvPr/>
            </p:nvSpPr>
            <p:spPr>
              <a:xfrm>
                <a:off x="3220734" y="2578608"/>
                <a:ext cx="1207008" cy="347472"/>
              </a:xfrm>
              <a:prstGeom prst="rect">
                <a:avLst/>
              </a:prstGeom>
              <a:noFill/>
              <a:ln/>
            </p:spPr>
            <p:txBody>
              <a:bodyPr wrap="square" rtlCol="0" anchor="ctr"/>
              <a:lstStyle/>
              <a:p>
                <a:pPr marL="0" indent="0" algn="ctr">
                  <a:buNone/>
                </a:pPr>
                <a:r>
                  <a:rPr lang="en-US" sz="1100" dirty="0">
                    <a:solidFill>
                      <a:srgbClr val="8899BB"/>
                    </a:solidFill>
                  </a:rPr>
                  <a:t>/</a:t>
                </a:r>
                <a:r>
                  <a:rPr lang="en-US" sz="1100" dirty="0" err="1">
                    <a:solidFill>
                      <a:srgbClr val="8899BB"/>
                    </a:solidFill>
                  </a:rPr>
                  <a:t>명령어</a:t>
                </a:r>
                <a:r>
                  <a:rPr lang="en-US" sz="1100" dirty="0">
                    <a:solidFill>
                      <a:srgbClr val="8899BB"/>
                    </a:solidFill>
                  </a:rPr>
                  <a:t> </a:t>
                </a:r>
                <a:br>
                  <a:rPr lang="en-US" sz="1100" dirty="0">
                    <a:solidFill>
                      <a:srgbClr val="8899BB"/>
                    </a:solidFill>
                  </a:rPr>
                </a:br>
                <a:r>
                  <a:rPr lang="en-US" sz="1100" dirty="0" err="1">
                    <a:solidFill>
                      <a:srgbClr val="8899BB"/>
                    </a:solidFill>
                  </a:rPr>
                  <a:t>실행</a:t>
                </a:r>
                <a:r>
                  <a:rPr lang="en-US" sz="1100" dirty="0">
                    <a:solidFill>
                      <a:srgbClr val="8899BB"/>
                    </a:solidFill>
                  </a:rPr>
                  <a:t> 트리거</a:t>
                </a:r>
                <a:endParaRPr lang="en-US" sz="1100" dirty="0"/>
              </a:p>
            </p:txBody>
          </p:sp>
        </p:grpSp>
        <p:grpSp>
          <p:nvGrpSpPr>
            <p:cNvPr id="64" name="그룹 63">
              <a:extLst>
                <a:ext uri="{FF2B5EF4-FFF2-40B4-BE49-F238E27FC236}">
                  <a16:creationId xmlns:a16="http://schemas.microsoft.com/office/drawing/2014/main" id="{88A48A65-5B69-4D67-88CB-284F85869096}"/>
                </a:ext>
              </a:extLst>
            </p:cNvPr>
            <p:cNvGrpSpPr/>
            <p:nvPr/>
          </p:nvGrpSpPr>
          <p:grpSpPr>
            <a:xfrm>
              <a:off x="4749509" y="1755648"/>
              <a:ext cx="1353312" cy="1234440"/>
              <a:chOff x="4647198" y="1755648"/>
              <a:chExt cx="1353312" cy="1234440"/>
            </a:xfrm>
          </p:grpSpPr>
          <p:sp>
            <p:nvSpPr>
              <p:cNvPr id="21" name="Shape 19"/>
              <p:cNvSpPr/>
              <p:nvPr/>
            </p:nvSpPr>
            <p:spPr>
              <a:xfrm>
                <a:off x="4647198" y="1755648"/>
                <a:ext cx="1353312" cy="1234440"/>
              </a:xfrm>
              <a:prstGeom prst="rect">
                <a:avLst/>
              </a:prstGeom>
              <a:solidFill>
                <a:srgbClr val="FFFFFF"/>
              </a:solidFill>
              <a:ln w="25400">
                <a:solidFill>
                  <a:srgbClr val="A78BFA"/>
                </a:solidFill>
                <a:prstDash val="solid"/>
              </a:ln>
              <a:effectLst>
                <a:outerShdw blurRad="101600" dist="25400" dir="8100000" algn="bl" rotWithShape="0">
                  <a:srgbClr val="000000">
                    <a:alpha val="15000"/>
                  </a:srgbClr>
                </a:outerShdw>
              </a:effectLst>
            </p:spPr>
          </p:sp>
          <p:sp>
            <p:nvSpPr>
              <p:cNvPr id="22" name="Shape 20"/>
              <p:cNvSpPr/>
              <p:nvPr/>
            </p:nvSpPr>
            <p:spPr>
              <a:xfrm>
                <a:off x="4647198" y="1755648"/>
                <a:ext cx="1353312" cy="45720"/>
              </a:xfrm>
              <a:prstGeom prst="rect">
                <a:avLst/>
              </a:prstGeom>
              <a:solidFill>
                <a:srgbClr val="A78BFA"/>
              </a:solidFill>
              <a:ln w="12700">
                <a:solidFill>
                  <a:srgbClr val="A78BFA"/>
                </a:solidFill>
                <a:prstDash val="solid"/>
              </a:ln>
            </p:spPr>
          </p:sp>
          <p:sp>
            <p:nvSpPr>
              <p:cNvPr id="23" name="Text 21"/>
              <p:cNvSpPr/>
              <p:nvPr/>
            </p:nvSpPr>
            <p:spPr>
              <a:xfrm>
                <a:off x="4647198" y="1828800"/>
                <a:ext cx="1353312" cy="438912"/>
              </a:xfrm>
              <a:prstGeom prst="rect">
                <a:avLst/>
              </a:prstGeom>
              <a:noFill/>
              <a:ln/>
            </p:spPr>
            <p:txBody>
              <a:bodyPr wrap="square" rtlCol="0" anchor="ctr"/>
              <a:lstStyle/>
              <a:p>
                <a:pPr marL="0" indent="0" algn="ctr">
                  <a:buNone/>
                </a:pPr>
                <a:r>
                  <a:rPr lang="en-US" sz="2200" dirty="0">
                    <a:solidFill>
                      <a:srgbClr val="000000"/>
                    </a:solidFill>
                  </a:rPr>
                  <a:t>🔗</a:t>
                </a:r>
                <a:endParaRPr lang="en-US" sz="2200" dirty="0"/>
              </a:p>
            </p:txBody>
          </p:sp>
          <p:sp>
            <p:nvSpPr>
              <p:cNvPr id="24" name="Text 22"/>
              <p:cNvSpPr/>
              <p:nvPr/>
            </p:nvSpPr>
            <p:spPr>
              <a:xfrm>
                <a:off x="4720350" y="2286000"/>
                <a:ext cx="1207008" cy="292608"/>
              </a:xfrm>
              <a:prstGeom prst="rect">
                <a:avLst/>
              </a:prstGeom>
              <a:noFill/>
              <a:ln/>
            </p:spPr>
            <p:txBody>
              <a:bodyPr wrap="square" rtlCol="0" anchor="ctr"/>
              <a:lstStyle/>
              <a:p>
                <a:pPr marL="0" indent="0" algn="ctr">
                  <a:buNone/>
                </a:pPr>
                <a:r>
                  <a:rPr lang="en-US" sz="1300" b="1" dirty="0">
                    <a:solidFill>
                      <a:srgbClr val="A78BFA"/>
                    </a:solidFill>
                    <a:latin typeface="Arial Black" pitchFamily="34" charset="0"/>
                    <a:ea typeface="Arial Black" pitchFamily="34" charset="-122"/>
                    <a:cs typeface="Arial Black" pitchFamily="34" charset="-120"/>
                  </a:rPr>
                  <a:t>Hooks</a:t>
                </a:r>
                <a:endParaRPr lang="en-US" sz="1300" dirty="0"/>
              </a:p>
            </p:txBody>
          </p:sp>
          <p:sp>
            <p:nvSpPr>
              <p:cNvPr id="25" name="Text 23"/>
              <p:cNvSpPr/>
              <p:nvPr/>
            </p:nvSpPr>
            <p:spPr>
              <a:xfrm>
                <a:off x="4720350" y="2578608"/>
                <a:ext cx="1207008" cy="347472"/>
              </a:xfrm>
              <a:prstGeom prst="rect">
                <a:avLst/>
              </a:prstGeom>
              <a:noFill/>
              <a:ln/>
            </p:spPr>
            <p:txBody>
              <a:bodyPr wrap="square" rtlCol="0" anchor="ctr"/>
              <a:lstStyle/>
              <a:p>
                <a:pPr marL="0" indent="0" algn="ctr">
                  <a:buNone/>
                </a:pPr>
                <a:r>
                  <a:rPr lang="en-US" sz="1100" dirty="0">
                    <a:solidFill>
                      <a:srgbClr val="8899BB"/>
                    </a:solidFill>
                  </a:rPr>
                  <a:t>이벤트 </a:t>
                </a:r>
                <a:r>
                  <a:rPr lang="en-US" sz="1100" dirty="0" err="1">
                    <a:solidFill>
                      <a:srgbClr val="8899BB"/>
                    </a:solidFill>
                  </a:rPr>
                  <a:t>기반</a:t>
                </a:r>
                <a:r>
                  <a:rPr lang="en-US" sz="1100" dirty="0">
                    <a:solidFill>
                      <a:srgbClr val="8899BB"/>
                    </a:solidFill>
                  </a:rPr>
                  <a:t> </a:t>
                </a:r>
                <a:br>
                  <a:rPr lang="en-US" sz="1100" dirty="0">
                    <a:solidFill>
                      <a:srgbClr val="8899BB"/>
                    </a:solidFill>
                  </a:rPr>
                </a:br>
                <a:r>
                  <a:rPr lang="en-US" sz="1100" dirty="0" err="1">
                    <a:solidFill>
                      <a:srgbClr val="8899BB"/>
                    </a:solidFill>
                  </a:rPr>
                  <a:t>자동</a:t>
                </a:r>
                <a:r>
                  <a:rPr lang="en-US" sz="1100" dirty="0">
                    <a:solidFill>
                      <a:srgbClr val="8899BB"/>
                    </a:solidFill>
                  </a:rPr>
                  <a:t> 실행</a:t>
                </a:r>
                <a:endParaRPr lang="en-US" sz="1100" dirty="0"/>
              </a:p>
            </p:txBody>
          </p:sp>
        </p:grpSp>
        <p:grpSp>
          <p:nvGrpSpPr>
            <p:cNvPr id="65" name="그룹 64">
              <a:extLst>
                <a:ext uri="{FF2B5EF4-FFF2-40B4-BE49-F238E27FC236}">
                  <a16:creationId xmlns:a16="http://schemas.microsoft.com/office/drawing/2014/main" id="{A84AAA50-9329-4565-8F3C-9166F155D54A}"/>
                </a:ext>
              </a:extLst>
            </p:cNvPr>
            <p:cNvGrpSpPr/>
            <p:nvPr/>
          </p:nvGrpSpPr>
          <p:grpSpPr>
            <a:xfrm>
              <a:off x="6039255" y="1755648"/>
              <a:ext cx="1657945" cy="1234440"/>
              <a:chOff x="5994497" y="1755648"/>
              <a:chExt cx="1657945" cy="1234440"/>
            </a:xfrm>
          </p:grpSpPr>
          <p:sp>
            <p:nvSpPr>
              <p:cNvPr id="26" name="Shape 24"/>
              <p:cNvSpPr/>
              <p:nvPr/>
            </p:nvSpPr>
            <p:spPr>
              <a:xfrm>
                <a:off x="6146814" y="1755648"/>
                <a:ext cx="1353312" cy="1234440"/>
              </a:xfrm>
              <a:prstGeom prst="rect">
                <a:avLst/>
              </a:prstGeom>
              <a:solidFill>
                <a:srgbClr val="FFFFFF"/>
              </a:solidFill>
              <a:ln w="25400">
                <a:solidFill>
                  <a:srgbClr val="F472B6"/>
                </a:solidFill>
                <a:prstDash val="solid"/>
              </a:ln>
              <a:effectLst>
                <a:outerShdw blurRad="101600" dist="25400" dir="8100000" algn="bl" rotWithShape="0">
                  <a:srgbClr val="000000">
                    <a:alpha val="15000"/>
                  </a:srgbClr>
                </a:outerShdw>
              </a:effectLst>
            </p:spPr>
          </p:sp>
          <p:sp>
            <p:nvSpPr>
              <p:cNvPr id="27" name="Shape 25"/>
              <p:cNvSpPr/>
              <p:nvPr/>
            </p:nvSpPr>
            <p:spPr>
              <a:xfrm>
                <a:off x="6146814" y="1755648"/>
                <a:ext cx="1353312" cy="45720"/>
              </a:xfrm>
              <a:prstGeom prst="rect">
                <a:avLst/>
              </a:prstGeom>
              <a:solidFill>
                <a:srgbClr val="F472B6"/>
              </a:solidFill>
              <a:ln w="12700">
                <a:solidFill>
                  <a:srgbClr val="F472B6"/>
                </a:solidFill>
                <a:prstDash val="solid"/>
              </a:ln>
            </p:spPr>
          </p:sp>
          <p:sp>
            <p:nvSpPr>
              <p:cNvPr id="28" name="Text 26"/>
              <p:cNvSpPr/>
              <p:nvPr/>
            </p:nvSpPr>
            <p:spPr>
              <a:xfrm>
                <a:off x="6146814" y="1828800"/>
                <a:ext cx="1353312" cy="438912"/>
              </a:xfrm>
              <a:prstGeom prst="rect">
                <a:avLst/>
              </a:prstGeom>
              <a:noFill/>
              <a:ln/>
            </p:spPr>
            <p:txBody>
              <a:bodyPr wrap="square" rtlCol="0" anchor="ctr"/>
              <a:lstStyle/>
              <a:p>
                <a:pPr marL="0" indent="0" algn="ctr">
                  <a:buNone/>
                </a:pPr>
                <a:r>
                  <a:rPr lang="en-US" sz="2200" dirty="0">
                    <a:solidFill>
                      <a:srgbClr val="000000"/>
                    </a:solidFill>
                  </a:rPr>
                  <a:t>🔌</a:t>
                </a:r>
                <a:endParaRPr lang="en-US" sz="2200" dirty="0"/>
              </a:p>
            </p:txBody>
          </p:sp>
          <p:sp>
            <p:nvSpPr>
              <p:cNvPr id="29" name="Text 27"/>
              <p:cNvSpPr/>
              <p:nvPr/>
            </p:nvSpPr>
            <p:spPr>
              <a:xfrm>
                <a:off x="5994497" y="2286000"/>
                <a:ext cx="1657945" cy="292608"/>
              </a:xfrm>
              <a:prstGeom prst="rect">
                <a:avLst/>
              </a:prstGeom>
              <a:noFill/>
              <a:ln/>
            </p:spPr>
            <p:txBody>
              <a:bodyPr wrap="square" rtlCol="0" anchor="ctr"/>
              <a:lstStyle/>
              <a:p>
                <a:pPr marL="0" indent="0" algn="ctr">
                  <a:buNone/>
                </a:pPr>
                <a:r>
                  <a:rPr lang="en-US" sz="1300" b="1" dirty="0">
                    <a:solidFill>
                      <a:srgbClr val="F472B6"/>
                    </a:solidFill>
                    <a:latin typeface="Arial Black" pitchFamily="34" charset="0"/>
                    <a:ea typeface="Arial Black" pitchFamily="34" charset="-122"/>
                    <a:cs typeface="Arial Black" pitchFamily="34" charset="-120"/>
                  </a:rPr>
                  <a:t>MCP &amp; Plugin</a:t>
                </a:r>
                <a:endParaRPr lang="en-US" sz="1300" dirty="0"/>
              </a:p>
            </p:txBody>
          </p:sp>
          <p:sp>
            <p:nvSpPr>
              <p:cNvPr id="30" name="Text 28"/>
              <p:cNvSpPr/>
              <p:nvPr/>
            </p:nvSpPr>
            <p:spPr>
              <a:xfrm>
                <a:off x="6219966" y="2578608"/>
                <a:ext cx="1207008" cy="347472"/>
              </a:xfrm>
              <a:prstGeom prst="rect">
                <a:avLst/>
              </a:prstGeom>
              <a:noFill/>
              <a:ln/>
            </p:spPr>
            <p:txBody>
              <a:bodyPr wrap="square" rtlCol="0" anchor="ctr"/>
              <a:lstStyle/>
              <a:p>
                <a:pPr marL="0" indent="0" algn="ctr">
                  <a:buNone/>
                </a:pPr>
                <a:r>
                  <a:rPr lang="en-US" sz="1100" dirty="0">
                    <a:solidFill>
                      <a:srgbClr val="8899BB"/>
                    </a:solidFill>
                  </a:rPr>
                  <a:t>외부 도구 연결 확장</a:t>
                </a:r>
                <a:endParaRPr lang="en-US" sz="1100" dirty="0"/>
              </a:p>
            </p:txBody>
          </p:sp>
        </p:grpSp>
        <p:grpSp>
          <p:nvGrpSpPr>
            <p:cNvPr id="66" name="그룹 65">
              <a:extLst>
                <a:ext uri="{FF2B5EF4-FFF2-40B4-BE49-F238E27FC236}">
                  <a16:creationId xmlns:a16="http://schemas.microsoft.com/office/drawing/2014/main" id="{FF34BED4-1BB5-48A0-8949-F854BA9EB6BB}"/>
                </a:ext>
              </a:extLst>
            </p:cNvPr>
            <p:cNvGrpSpPr/>
            <p:nvPr/>
          </p:nvGrpSpPr>
          <p:grpSpPr>
            <a:xfrm>
              <a:off x="7646430" y="1755648"/>
              <a:ext cx="1353312" cy="1234440"/>
              <a:chOff x="7646430" y="1755648"/>
              <a:chExt cx="1353312" cy="1234440"/>
            </a:xfrm>
          </p:grpSpPr>
          <p:sp>
            <p:nvSpPr>
              <p:cNvPr id="31" name="Shape 29"/>
              <p:cNvSpPr/>
              <p:nvPr/>
            </p:nvSpPr>
            <p:spPr>
              <a:xfrm>
                <a:off x="7646430" y="1755648"/>
                <a:ext cx="1353312" cy="1234440"/>
              </a:xfrm>
              <a:prstGeom prst="rect">
                <a:avLst/>
              </a:prstGeom>
              <a:solidFill>
                <a:srgbClr val="FFFFFF"/>
              </a:solidFill>
              <a:ln w="25400">
                <a:solidFill>
                  <a:srgbClr val="2DD4BF"/>
                </a:solidFill>
                <a:prstDash val="solid"/>
              </a:ln>
              <a:effectLst>
                <a:outerShdw blurRad="101600" dist="25400" dir="8100000" algn="bl" rotWithShape="0">
                  <a:srgbClr val="000000">
                    <a:alpha val="15000"/>
                  </a:srgbClr>
                </a:outerShdw>
              </a:effectLst>
            </p:spPr>
          </p:sp>
          <p:sp>
            <p:nvSpPr>
              <p:cNvPr id="32" name="Shape 30"/>
              <p:cNvSpPr/>
              <p:nvPr/>
            </p:nvSpPr>
            <p:spPr>
              <a:xfrm>
                <a:off x="7646430" y="1755648"/>
                <a:ext cx="1353312" cy="45720"/>
              </a:xfrm>
              <a:prstGeom prst="rect">
                <a:avLst/>
              </a:prstGeom>
              <a:solidFill>
                <a:srgbClr val="2DD4BF"/>
              </a:solidFill>
              <a:ln w="12700">
                <a:solidFill>
                  <a:srgbClr val="2DD4BF"/>
                </a:solidFill>
                <a:prstDash val="solid"/>
              </a:ln>
            </p:spPr>
          </p:sp>
          <p:sp>
            <p:nvSpPr>
              <p:cNvPr id="33" name="Text 31"/>
              <p:cNvSpPr/>
              <p:nvPr/>
            </p:nvSpPr>
            <p:spPr>
              <a:xfrm>
                <a:off x="7646430" y="1828800"/>
                <a:ext cx="1353312" cy="438912"/>
              </a:xfrm>
              <a:prstGeom prst="rect">
                <a:avLst/>
              </a:prstGeom>
              <a:noFill/>
              <a:ln/>
            </p:spPr>
            <p:txBody>
              <a:bodyPr wrap="square" rtlCol="0" anchor="ctr"/>
              <a:lstStyle/>
              <a:p>
                <a:pPr marL="0" indent="0" algn="ctr">
                  <a:buNone/>
                </a:pPr>
                <a:r>
                  <a:rPr lang="en-US" sz="2200" dirty="0">
                    <a:solidFill>
                      <a:srgbClr val="000000"/>
                    </a:solidFill>
                  </a:rPr>
                  <a:t>🤝</a:t>
                </a:r>
                <a:endParaRPr lang="en-US" sz="2200" dirty="0"/>
              </a:p>
            </p:txBody>
          </p:sp>
          <p:sp>
            <p:nvSpPr>
              <p:cNvPr id="34" name="Text 32"/>
              <p:cNvSpPr/>
              <p:nvPr/>
            </p:nvSpPr>
            <p:spPr>
              <a:xfrm>
                <a:off x="7719582" y="2286000"/>
                <a:ext cx="1207008" cy="292608"/>
              </a:xfrm>
              <a:prstGeom prst="rect">
                <a:avLst/>
              </a:prstGeom>
              <a:noFill/>
              <a:ln/>
            </p:spPr>
            <p:txBody>
              <a:bodyPr wrap="square" rtlCol="0" anchor="ctr"/>
              <a:lstStyle/>
              <a:p>
                <a:pPr marL="0" indent="0" algn="ctr">
                  <a:buNone/>
                </a:pPr>
                <a:r>
                  <a:rPr lang="en-US" sz="1300" b="1" dirty="0">
                    <a:solidFill>
                      <a:srgbClr val="2DD4BF"/>
                    </a:solidFill>
                    <a:latin typeface="Arial Black" pitchFamily="34" charset="0"/>
                    <a:ea typeface="Arial Black" pitchFamily="34" charset="-122"/>
                    <a:cs typeface="Arial Black" pitchFamily="34" charset="-120"/>
                  </a:rPr>
                  <a:t>SubAgent</a:t>
                </a:r>
                <a:endParaRPr lang="en-US" sz="1300" dirty="0"/>
              </a:p>
            </p:txBody>
          </p:sp>
          <p:sp>
            <p:nvSpPr>
              <p:cNvPr id="35" name="Text 33"/>
              <p:cNvSpPr/>
              <p:nvPr/>
            </p:nvSpPr>
            <p:spPr>
              <a:xfrm>
                <a:off x="7719582" y="2578608"/>
                <a:ext cx="1207008" cy="347472"/>
              </a:xfrm>
              <a:prstGeom prst="rect">
                <a:avLst/>
              </a:prstGeom>
              <a:noFill/>
              <a:ln/>
            </p:spPr>
            <p:txBody>
              <a:bodyPr wrap="square" rtlCol="0" anchor="ctr"/>
              <a:lstStyle/>
              <a:p>
                <a:pPr marL="0" indent="0" algn="ctr">
                  <a:buNone/>
                </a:pPr>
                <a:r>
                  <a:rPr lang="en-US" sz="1100" dirty="0">
                    <a:solidFill>
                      <a:srgbClr val="8899BB"/>
                    </a:solidFill>
                  </a:rPr>
                  <a:t>병렬 Agent </a:t>
                </a:r>
                <a:br>
                  <a:rPr lang="en-US" sz="1100" dirty="0">
                    <a:solidFill>
                      <a:srgbClr val="8899BB"/>
                    </a:solidFill>
                  </a:rPr>
                </a:br>
                <a:r>
                  <a:rPr lang="en-US" sz="1100" dirty="0" err="1">
                    <a:solidFill>
                      <a:srgbClr val="8899BB"/>
                    </a:solidFill>
                  </a:rPr>
                  <a:t>분산</a:t>
                </a:r>
                <a:r>
                  <a:rPr lang="en-US" sz="1100" dirty="0">
                    <a:solidFill>
                      <a:srgbClr val="8899BB"/>
                    </a:solidFill>
                  </a:rPr>
                  <a:t> 처리</a:t>
                </a:r>
                <a:endParaRPr lang="en-US" sz="1100" dirty="0"/>
              </a:p>
            </p:txBody>
          </p:sp>
        </p:grpSp>
      </p:grpSp>
      <p:grpSp>
        <p:nvGrpSpPr>
          <p:cNvPr id="68" name="그룹 67">
            <a:extLst>
              <a:ext uri="{FF2B5EF4-FFF2-40B4-BE49-F238E27FC236}">
                <a16:creationId xmlns:a16="http://schemas.microsoft.com/office/drawing/2014/main" id="{E3E7647B-5FAA-4654-92ED-814A716AB2A0}"/>
              </a:ext>
            </a:extLst>
          </p:cNvPr>
          <p:cNvGrpSpPr/>
          <p:nvPr/>
        </p:nvGrpSpPr>
        <p:grpSpPr>
          <a:xfrm>
            <a:off x="377265" y="1722879"/>
            <a:ext cx="8633982" cy="1243584"/>
            <a:chOff x="365760" y="3154680"/>
            <a:chExt cx="8633982" cy="1243584"/>
          </a:xfrm>
        </p:grpSpPr>
        <p:sp>
          <p:nvSpPr>
            <p:cNvPr id="36" name="Shape 34"/>
            <p:cNvSpPr/>
            <p:nvPr/>
          </p:nvSpPr>
          <p:spPr>
            <a:xfrm>
              <a:off x="365760" y="3154680"/>
              <a:ext cx="1188720" cy="310896"/>
            </a:xfrm>
            <a:prstGeom prst="rect">
              <a:avLst/>
            </a:prstGeom>
            <a:solidFill>
              <a:srgbClr val="1E2761"/>
            </a:solidFill>
            <a:ln w="12700">
              <a:solidFill>
                <a:srgbClr val="D0D8F0"/>
              </a:solidFill>
              <a:prstDash val="solid"/>
            </a:ln>
          </p:spPr>
        </p:sp>
        <p:sp>
          <p:nvSpPr>
            <p:cNvPr id="37" name="Text 35"/>
            <p:cNvSpPr/>
            <p:nvPr/>
          </p:nvSpPr>
          <p:spPr>
            <a:xfrm>
              <a:off x="438912" y="3154680"/>
              <a:ext cx="1042416" cy="310896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200" b="1" dirty="0">
                  <a:solidFill>
                    <a:srgbClr val="FFFFFF"/>
                  </a:solidFill>
                </a:rPr>
                <a:t>구분</a:t>
              </a:r>
              <a:endParaRPr lang="en-US" sz="1200" dirty="0"/>
            </a:p>
          </p:txBody>
        </p:sp>
        <p:sp>
          <p:nvSpPr>
            <p:cNvPr id="38" name="Shape 36"/>
            <p:cNvSpPr/>
            <p:nvPr/>
          </p:nvSpPr>
          <p:spPr>
            <a:xfrm>
              <a:off x="1600200" y="3154680"/>
              <a:ext cx="3291840" cy="310896"/>
            </a:xfrm>
            <a:prstGeom prst="rect">
              <a:avLst/>
            </a:prstGeom>
            <a:solidFill>
              <a:srgbClr val="1E2761"/>
            </a:solidFill>
            <a:ln w="12700">
              <a:solidFill>
                <a:srgbClr val="D0D8F0"/>
              </a:solidFill>
              <a:prstDash val="solid"/>
            </a:ln>
          </p:spPr>
        </p:sp>
        <p:sp>
          <p:nvSpPr>
            <p:cNvPr id="39" name="Text 37"/>
            <p:cNvSpPr/>
            <p:nvPr/>
          </p:nvSpPr>
          <p:spPr>
            <a:xfrm>
              <a:off x="1673352" y="3154680"/>
              <a:ext cx="3145536" cy="310896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200" b="1" dirty="0">
                  <a:solidFill>
                    <a:srgbClr val="FFFFFF"/>
                  </a:solidFill>
                </a:rPr>
                <a:t>일반 AI (챗봇)</a:t>
              </a:r>
              <a:endParaRPr lang="en-US" sz="1200" dirty="0"/>
            </a:p>
          </p:txBody>
        </p:sp>
        <p:sp>
          <p:nvSpPr>
            <p:cNvPr id="40" name="Shape 38"/>
            <p:cNvSpPr/>
            <p:nvPr/>
          </p:nvSpPr>
          <p:spPr>
            <a:xfrm>
              <a:off x="4937760" y="3154680"/>
              <a:ext cx="4061982" cy="310896"/>
            </a:xfrm>
            <a:prstGeom prst="rect">
              <a:avLst/>
            </a:prstGeom>
            <a:solidFill>
              <a:srgbClr val="1E2761"/>
            </a:solidFill>
            <a:ln w="12700">
              <a:solidFill>
                <a:srgbClr val="D0D8F0"/>
              </a:solidFill>
              <a:prstDash val="solid"/>
            </a:ln>
          </p:spPr>
        </p:sp>
        <p:sp>
          <p:nvSpPr>
            <p:cNvPr id="41" name="Text 39"/>
            <p:cNvSpPr/>
            <p:nvPr/>
          </p:nvSpPr>
          <p:spPr>
            <a:xfrm>
              <a:off x="5010912" y="3154680"/>
              <a:ext cx="3602736" cy="310896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200" b="1" dirty="0">
                  <a:solidFill>
                    <a:srgbClr val="FFFFFF"/>
                  </a:solidFill>
                </a:rPr>
                <a:t>AI Agent</a:t>
              </a:r>
              <a:endParaRPr lang="en-US" sz="1200" dirty="0"/>
            </a:p>
          </p:txBody>
        </p:sp>
        <p:sp>
          <p:nvSpPr>
            <p:cNvPr id="42" name="Shape 40"/>
            <p:cNvSpPr/>
            <p:nvPr/>
          </p:nvSpPr>
          <p:spPr>
            <a:xfrm>
              <a:off x="365760" y="3465576"/>
              <a:ext cx="1188720" cy="310896"/>
            </a:xfrm>
            <a:prstGeom prst="rect">
              <a:avLst/>
            </a:prstGeom>
            <a:solidFill>
              <a:srgbClr val="F4F7FE"/>
            </a:solidFill>
            <a:ln w="12700">
              <a:solidFill>
                <a:srgbClr val="D0D8F0"/>
              </a:solidFill>
              <a:prstDash val="solid"/>
            </a:ln>
          </p:spPr>
        </p:sp>
        <p:sp>
          <p:nvSpPr>
            <p:cNvPr id="43" name="Text 41"/>
            <p:cNvSpPr/>
            <p:nvPr/>
          </p:nvSpPr>
          <p:spPr>
            <a:xfrm>
              <a:off x="438912" y="3465576"/>
              <a:ext cx="1042416" cy="310896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100" dirty="0">
                  <a:solidFill>
                    <a:srgbClr val="1E2761"/>
                  </a:solidFill>
                </a:rPr>
                <a:t>동작</a:t>
              </a:r>
              <a:endParaRPr lang="en-US" sz="1100" dirty="0"/>
            </a:p>
          </p:txBody>
        </p:sp>
        <p:sp>
          <p:nvSpPr>
            <p:cNvPr id="44" name="Shape 42"/>
            <p:cNvSpPr/>
            <p:nvPr/>
          </p:nvSpPr>
          <p:spPr>
            <a:xfrm>
              <a:off x="1600200" y="3465576"/>
              <a:ext cx="3291840" cy="310896"/>
            </a:xfrm>
            <a:prstGeom prst="rect">
              <a:avLst/>
            </a:prstGeom>
            <a:solidFill>
              <a:srgbClr val="F4F7FE"/>
            </a:solidFill>
            <a:ln w="12700">
              <a:solidFill>
                <a:srgbClr val="D0D8F0"/>
              </a:solidFill>
              <a:prstDash val="solid"/>
            </a:ln>
          </p:spPr>
        </p:sp>
        <p:sp>
          <p:nvSpPr>
            <p:cNvPr id="45" name="Text 43"/>
            <p:cNvSpPr/>
            <p:nvPr/>
          </p:nvSpPr>
          <p:spPr>
            <a:xfrm>
              <a:off x="1673352" y="3465576"/>
              <a:ext cx="3145536" cy="310896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100" dirty="0">
                  <a:solidFill>
                    <a:srgbClr val="1E2761"/>
                  </a:solidFill>
                </a:rPr>
                <a:t>질문 → 답변 (1회성)</a:t>
              </a:r>
              <a:endParaRPr lang="en-US" sz="1100" dirty="0"/>
            </a:p>
          </p:txBody>
        </p:sp>
        <p:sp>
          <p:nvSpPr>
            <p:cNvPr id="46" name="Shape 44"/>
            <p:cNvSpPr/>
            <p:nvPr/>
          </p:nvSpPr>
          <p:spPr>
            <a:xfrm>
              <a:off x="4937760" y="3465576"/>
              <a:ext cx="4061982" cy="310896"/>
            </a:xfrm>
            <a:prstGeom prst="rect">
              <a:avLst/>
            </a:prstGeom>
            <a:solidFill>
              <a:srgbClr val="F4F7FE"/>
            </a:solidFill>
            <a:ln w="12700">
              <a:solidFill>
                <a:srgbClr val="D0D8F0"/>
              </a:solidFill>
              <a:prstDash val="solid"/>
            </a:ln>
          </p:spPr>
        </p:sp>
        <p:sp>
          <p:nvSpPr>
            <p:cNvPr id="47" name="Text 45"/>
            <p:cNvSpPr/>
            <p:nvPr/>
          </p:nvSpPr>
          <p:spPr>
            <a:xfrm>
              <a:off x="5010912" y="3465576"/>
              <a:ext cx="3602736" cy="310896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100" dirty="0">
                  <a:solidFill>
                    <a:srgbClr val="1E2761"/>
                  </a:solidFill>
                </a:rPr>
                <a:t>목표 → 계획 → 실행 → 검토 (반복)</a:t>
              </a:r>
              <a:endParaRPr lang="en-US" sz="1100" dirty="0"/>
            </a:p>
          </p:txBody>
        </p:sp>
        <p:sp>
          <p:nvSpPr>
            <p:cNvPr id="48" name="Shape 46"/>
            <p:cNvSpPr/>
            <p:nvPr/>
          </p:nvSpPr>
          <p:spPr>
            <a:xfrm>
              <a:off x="365760" y="3776472"/>
              <a:ext cx="1188720" cy="310896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D0D8F0"/>
              </a:solidFill>
              <a:prstDash val="solid"/>
            </a:ln>
          </p:spPr>
        </p:sp>
        <p:sp>
          <p:nvSpPr>
            <p:cNvPr id="49" name="Text 47"/>
            <p:cNvSpPr/>
            <p:nvPr/>
          </p:nvSpPr>
          <p:spPr>
            <a:xfrm>
              <a:off x="438912" y="3776472"/>
              <a:ext cx="1042416" cy="310896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100" dirty="0">
                  <a:solidFill>
                    <a:srgbClr val="1E2761"/>
                  </a:solidFill>
                </a:rPr>
                <a:t>도구</a:t>
              </a:r>
              <a:endParaRPr lang="en-US" sz="1100" dirty="0"/>
            </a:p>
          </p:txBody>
        </p:sp>
        <p:sp>
          <p:nvSpPr>
            <p:cNvPr id="50" name="Shape 48"/>
            <p:cNvSpPr/>
            <p:nvPr/>
          </p:nvSpPr>
          <p:spPr>
            <a:xfrm>
              <a:off x="1600200" y="3776472"/>
              <a:ext cx="3291840" cy="310896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D0D8F0"/>
              </a:solidFill>
              <a:prstDash val="solid"/>
            </a:ln>
          </p:spPr>
        </p:sp>
        <p:sp>
          <p:nvSpPr>
            <p:cNvPr id="51" name="Text 49"/>
            <p:cNvSpPr/>
            <p:nvPr/>
          </p:nvSpPr>
          <p:spPr>
            <a:xfrm>
              <a:off x="1673352" y="3776472"/>
              <a:ext cx="3145536" cy="310896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100" dirty="0">
                  <a:solidFill>
                    <a:srgbClr val="1E2761"/>
                  </a:solidFill>
                </a:rPr>
                <a:t>❌ 없음</a:t>
              </a:r>
              <a:endParaRPr lang="en-US" sz="1100" dirty="0"/>
            </a:p>
          </p:txBody>
        </p:sp>
        <p:sp>
          <p:nvSpPr>
            <p:cNvPr id="52" name="Shape 50"/>
            <p:cNvSpPr/>
            <p:nvPr/>
          </p:nvSpPr>
          <p:spPr>
            <a:xfrm>
              <a:off x="4937760" y="3776472"/>
              <a:ext cx="4061982" cy="310896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D0D8F0"/>
              </a:solidFill>
              <a:prstDash val="solid"/>
            </a:ln>
          </p:spPr>
        </p:sp>
        <p:sp>
          <p:nvSpPr>
            <p:cNvPr id="53" name="Text 51"/>
            <p:cNvSpPr/>
            <p:nvPr/>
          </p:nvSpPr>
          <p:spPr>
            <a:xfrm>
              <a:off x="5010912" y="3776472"/>
              <a:ext cx="3602736" cy="310896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100" dirty="0">
                  <a:solidFill>
                    <a:srgbClr val="1E2761"/>
                  </a:solidFill>
                </a:rPr>
                <a:t>✅ 파일읽기·명령어·검색 등</a:t>
              </a:r>
              <a:endParaRPr lang="en-US" sz="1100" dirty="0"/>
            </a:p>
          </p:txBody>
        </p:sp>
        <p:sp>
          <p:nvSpPr>
            <p:cNvPr id="54" name="Shape 52"/>
            <p:cNvSpPr/>
            <p:nvPr/>
          </p:nvSpPr>
          <p:spPr>
            <a:xfrm>
              <a:off x="365760" y="4087368"/>
              <a:ext cx="1188720" cy="310896"/>
            </a:xfrm>
            <a:prstGeom prst="rect">
              <a:avLst/>
            </a:prstGeom>
            <a:solidFill>
              <a:srgbClr val="F4F7FE"/>
            </a:solidFill>
            <a:ln w="12700">
              <a:solidFill>
                <a:srgbClr val="D0D8F0"/>
              </a:solidFill>
              <a:prstDash val="solid"/>
            </a:ln>
          </p:spPr>
        </p:sp>
        <p:sp>
          <p:nvSpPr>
            <p:cNvPr id="55" name="Text 53"/>
            <p:cNvSpPr/>
            <p:nvPr/>
          </p:nvSpPr>
          <p:spPr>
            <a:xfrm>
              <a:off x="438912" y="4087368"/>
              <a:ext cx="1042416" cy="310896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100" dirty="0">
                  <a:solidFill>
                    <a:srgbClr val="1E2761"/>
                  </a:solidFill>
                </a:rPr>
                <a:t>자율성</a:t>
              </a:r>
              <a:endParaRPr lang="en-US" sz="1100" dirty="0"/>
            </a:p>
          </p:txBody>
        </p:sp>
        <p:sp>
          <p:nvSpPr>
            <p:cNvPr id="56" name="Shape 54"/>
            <p:cNvSpPr/>
            <p:nvPr/>
          </p:nvSpPr>
          <p:spPr>
            <a:xfrm>
              <a:off x="1600200" y="4087368"/>
              <a:ext cx="3291840" cy="310896"/>
            </a:xfrm>
            <a:prstGeom prst="rect">
              <a:avLst/>
            </a:prstGeom>
            <a:solidFill>
              <a:srgbClr val="F4F7FE"/>
            </a:solidFill>
            <a:ln w="12700">
              <a:solidFill>
                <a:srgbClr val="D0D8F0"/>
              </a:solidFill>
              <a:prstDash val="solid"/>
            </a:ln>
          </p:spPr>
        </p:sp>
        <p:sp>
          <p:nvSpPr>
            <p:cNvPr id="57" name="Text 55"/>
            <p:cNvSpPr/>
            <p:nvPr/>
          </p:nvSpPr>
          <p:spPr>
            <a:xfrm>
              <a:off x="1673352" y="4087368"/>
              <a:ext cx="3145536" cy="310896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100" dirty="0">
                  <a:solidFill>
                    <a:srgbClr val="1E2761"/>
                  </a:solidFill>
                </a:rPr>
                <a:t>없음 (사람이 매번 지시)</a:t>
              </a:r>
              <a:endParaRPr lang="en-US" sz="1100" dirty="0"/>
            </a:p>
          </p:txBody>
        </p:sp>
        <p:sp>
          <p:nvSpPr>
            <p:cNvPr id="58" name="Shape 56"/>
            <p:cNvSpPr/>
            <p:nvPr/>
          </p:nvSpPr>
          <p:spPr>
            <a:xfrm>
              <a:off x="4937760" y="4087368"/>
              <a:ext cx="4061982" cy="310896"/>
            </a:xfrm>
            <a:prstGeom prst="rect">
              <a:avLst/>
            </a:prstGeom>
            <a:solidFill>
              <a:srgbClr val="F4F7FE"/>
            </a:solidFill>
            <a:ln w="12700">
              <a:solidFill>
                <a:srgbClr val="D0D8F0"/>
              </a:solidFill>
              <a:prstDash val="solid"/>
            </a:ln>
          </p:spPr>
        </p:sp>
        <p:sp>
          <p:nvSpPr>
            <p:cNvPr id="59" name="Text 57"/>
            <p:cNvSpPr/>
            <p:nvPr/>
          </p:nvSpPr>
          <p:spPr>
            <a:xfrm>
              <a:off x="5010912" y="4087368"/>
              <a:ext cx="3602736" cy="310896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100" dirty="0">
                  <a:solidFill>
                    <a:srgbClr val="1E2761"/>
                  </a:solidFill>
                </a:rPr>
                <a:t>있음 (중간 과정 스스로 판단)</a:t>
              </a:r>
              <a:endParaRPr lang="en-US" sz="1100" dirty="0"/>
            </a:p>
          </p:txBody>
        </p:sp>
      </p:grpSp>
      <p:sp>
        <p:nvSpPr>
          <p:cNvPr id="60" name="Shape 58"/>
          <p:cNvSpPr/>
          <p:nvPr/>
        </p:nvSpPr>
        <p:spPr>
          <a:xfrm>
            <a:off x="365760" y="4434840"/>
            <a:ext cx="8633982" cy="502920"/>
          </a:xfrm>
          <a:prstGeom prst="rect">
            <a:avLst/>
          </a:prstGeom>
          <a:solidFill>
            <a:srgbClr val="EEF2FF"/>
          </a:solidFill>
          <a:ln w="12700">
            <a:solidFill>
              <a:srgbClr val="4FC3F7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1073324" y="4426383"/>
            <a:ext cx="805866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1E2761"/>
                </a:solidFill>
              </a:rPr>
              <a:t>USER  → </a:t>
            </a:r>
            <a:r>
              <a:rPr lang="en-US" sz="1050" dirty="0">
                <a:solidFill>
                  <a:srgbClr val="1E2761"/>
                </a:solidFill>
              </a:rPr>
              <a:t>[</a:t>
            </a:r>
            <a:r>
              <a:rPr lang="ko-KR" altLang="en-US" sz="1050" i="1" dirty="0">
                <a:solidFill>
                  <a:srgbClr val="1E2761"/>
                </a:solidFill>
              </a:rPr>
              <a:t>직접판단 </a:t>
            </a:r>
            <a:r>
              <a:rPr lang="en-US" altLang="ko-KR" sz="1050" i="1" dirty="0">
                <a:solidFill>
                  <a:srgbClr val="1E2761"/>
                </a:solidFill>
              </a:rPr>
              <a:t>·</a:t>
            </a:r>
            <a:r>
              <a:rPr lang="en-US" sz="1050" i="1" dirty="0">
                <a:solidFill>
                  <a:srgbClr val="1E2761"/>
                </a:solidFill>
              </a:rPr>
              <a:t> /Commands </a:t>
            </a:r>
            <a:r>
              <a:rPr lang="en-US" sz="1050" i="1" dirty="0" err="1">
                <a:solidFill>
                  <a:srgbClr val="1E2761"/>
                </a:solidFill>
              </a:rPr>
              <a:t>입력</a:t>
            </a:r>
            <a:r>
              <a:rPr lang="en-US" sz="1050" i="1" dirty="0">
                <a:solidFill>
                  <a:srgbClr val="1E2761"/>
                </a:solidFill>
              </a:rPr>
              <a:t> · </a:t>
            </a:r>
            <a:r>
              <a:rPr lang="en-US" sz="1050" i="1" dirty="0" err="1">
                <a:solidFill>
                  <a:srgbClr val="1E2761"/>
                </a:solidFill>
              </a:rPr>
              <a:t>이벤트</a:t>
            </a:r>
            <a:r>
              <a:rPr lang="en-US" sz="1050" i="1" dirty="0">
                <a:solidFill>
                  <a:srgbClr val="1E2761"/>
                </a:solidFill>
              </a:rPr>
              <a:t> </a:t>
            </a:r>
            <a:r>
              <a:rPr lang="en-US" sz="1050" i="1" dirty="0" err="1">
                <a:solidFill>
                  <a:srgbClr val="1E2761"/>
                </a:solidFill>
              </a:rPr>
              <a:t>발생</a:t>
            </a:r>
            <a:r>
              <a:rPr lang="en-US" sz="1050" i="1" dirty="0">
                <a:solidFill>
                  <a:srgbClr val="1E2761"/>
                </a:solidFill>
              </a:rPr>
              <a:t>(Hooks) </a:t>
            </a:r>
            <a:r>
              <a:rPr lang="en-US" sz="1050" dirty="0">
                <a:solidFill>
                  <a:srgbClr val="1E2761"/>
                </a:solidFill>
              </a:rPr>
              <a:t>] </a:t>
            </a:r>
            <a:r>
              <a:rPr lang="en-US" sz="1050" i="1" dirty="0">
                <a:solidFill>
                  <a:srgbClr val="1E2761"/>
                </a:solidFill>
              </a:rPr>
              <a:t> →  Skills  →  Agent (AI Docs 항상 참조)  → </a:t>
            </a:r>
            <a:r>
              <a:rPr lang="en-US" altLang="ko-KR" sz="1050" i="1" dirty="0" err="1">
                <a:solidFill>
                  <a:srgbClr val="1E2761"/>
                </a:solidFill>
              </a:rPr>
              <a:t>SubAgent</a:t>
            </a:r>
            <a:r>
              <a:rPr lang="en-US" altLang="ko-KR" sz="1050" i="1" dirty="0">
                <a:solidFill>
                  <a:srgbClr val="1E2761"/>
                </a:solidFill>
              </a:rPr>
              <a:t> </a:t>
            </a:r>
            <a:r>
              <a:rPr lang="en-US" sz="1050" i="1" dirty="0">
                <a:solidFill>
                  <a:srgbClr val="1E2761"/>
                </a:solidFill>
              </a:rPr>
              <a:t>or MCP or Plugin (</a:t>
            </a:r>
            <a:r>
              <a:rPr lang="ko-KR" altLang="en-US" sz="1050" i="1" dirty="0">
                <a:solidFill>
                  <a:srgbClr val="1E2761"/>
                </a:solidFill>
              </a:rPr>
              <a:t>필요시</a:t>
            </a:r>
            <a:r>
              <a:rPr lang="en-US" altLang="ko-KR" sz="1050" i="1" dirty="0">
                <a:solidFill>
                  <a:srgbClr val="1E2761"/>
                </a:solidFill>
              </a:rPr>
              <a:t>)</a:t>
            </a:r>
            <a:endParaRPr lang="en-US" sz="1050" dirty="0"/>
          </a:p>
        </p:txBody>
      </p:sp>
      <p:grpSp>
        <p:nvGrpSpPr>
          <p:cNvPr id="74" name="그룹 73">
            <a:extLst>
              <a:ext uri="{FF2B5EF4-FFF2-40B4-BE49-F238E27FC236}">
                <a16:creationId xmlns:a16="http://schemas.microsoft.com/office/drawing/2014/main" id="{A2DF9AA0-CDA7-40AE-ADD0-22C703CBD834}"/>
              </a:ext>
            </a:extLst>
          </p:cNvPr>
          <p:cNvGrpSpPr/>
          <p:nvPr/>
        </p:nvGrpSpPr>
        <p:grpSpPr>
          <a:xfrm>
            <a:off x="335990" y="4434839"/>
            <a:ext cx="869066" cy="502920"/>
            <a:chOff x="-756176" y="3290242"/>
            <a:chExt cx="949056" cy="310896"/>
          </a:xfrm>
        </p:grpSpPr>
        <p:sp>
          <p:nvSpPr>
            <p:cNvPr id="70" name="Shape 34">
              <a:extLst>
                <a:ext uri="{FF2B5EF4-FFF2-40B4-BE49-F238E27FC236}">
                  <a16:creationId xmlns:a16="http://schemas.microsoft.com/office/drawing/2014/main" id="{06FBA96A-725C-4180-8CA1-DB1555641771}"/>
                </a:ext>
              </a:extLst>
            </p:cNvPr>
            <p:cNvSpPr/>
            <p:nvPr/>
          </p:nvSpPr>
          <p:spPr>
            <a:xfrm>
              <a:off x="-723664" y="3290242"/>
              <a:ext cx="772689" cy="310896"/>
            </a:xfrm>
            <a:prstGeom prst="rect">
              <a:avLst/>
            </a:prstGeom>
            <a:solidFill>
              <a:srgbClr val="1E2761"/>
            </a:solidFill>
            <a:ln w="12700">
              <a:solidFill>
                <a:srgbClr val="D0D8F0"/>
              </a:solidFill>
              <a:prstDash val="solid"/>
            </a:ln>
          </p:spPr>
          <p:txBody>
            <a:bodyPr/>
            <a:lstStyle/>
            <a:p>
              <a:endParaRPr lang="ko-KR" altLang="en-US" sz="1200" i="1" dirty="0">
                <a:solidFill>
                  <a:schemeClr val="bg1"/>
                </a:solidFill>
              </a:endParaRPr>
            </a:p>
          </p:txBody>
        </p:sp>
        <p:sp>
          <p:nvSpPr>
            <p:cNvPr id="73" name="TextBox 72">
              <a:extLst>
                <a:ext uri="{FF2B5EF4-FFF2-40B4-BE49-F238E27FC236}">
                  <a16:creationId xmlns:a16="http://schemas.microsoft.com/office/drawing/2014/main" id="{F3561A56-5DFD-40A5-923E-9E1438CDB122}"/>
                </a:ext>
              </a:extLst>
            </p:cNvPr>
            <p:cNvSpPr txBox="1"/>
            <p:nvPr/>
          </p:nvSpPr>
          <p:spPr>
            <a:xfrm>
              <a:off x="-756176" y="3372100"/>
              <a:ext cx="949056" cy="15696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050" i="1" dirty="0" err="1">
                  <a:solidFill>
                    <a:schemeClr val="bg1"/>
                  </a:solidFill>
                </a:rPr>
                <a:t>호출</a:t>
              </a:r>
              <a:r>
                <a:rPr lang="en-US" altLang="ko-KR" sz="1050" i="1" dirty="0">
                  <a:solidFill>
                    <a:schemeClr val="bg1"/>
                  </a:solidFill>
                </a:rPr>
                <a:t> </a:t>
              </a:r>
              <a:r>
                <a:rPr lang="en-US" altLang="ko-KR" sz="1050" i="1" dirty="0" err="1">
                  <a:solidFill>
                    <a:schemeClr val="bg1"/>
                  </a:solidFill>
                </a:rPr>
                <a:t>흐름</a:t>
              </a:r>
              <a:endParaRPr lang="ko-KR" altLang="en-US" sz="1050" i="1" dirty="0">
                <a:solidFill>
                  <a:schemeClr val="bg1"/>
                </a:solidFill>
              </a:endParaRPr>
            </a:p>
          </p:txBody>
        </p:sp>
      </p:grpSp>
      <p:sp>
        <p:nvSpPr>
          <p:cNvPr id="71" name="왼쪽 중괄호 70">
            <a:extLst>
              <a:ext uri="{FF2B5EF4-FFF2-40B4-BE49-F238E27FC236}">
                <a16:creationId xmlns:a16="http://schemas.microsoft.com/office/drawing/2014/main" id="{FD7257EA-7D86-40E0-B346-F15D0B10A2CB}"/>
              </a:ext>
            </a:extLst>
          </p:cNvPr>
          <p:cNvSpPr/>
          <p:nvPr/>
        </p:nvSpPr>
        <p:spPr>
          <a:xfrm rot="5400000">
            <a:off x="4950300" y="636357"/>
            <a:ext cx="703173" cy="7234062"/>
          </a:xfrm>
          <a:prstGeom prst="leftBrace">
            <a:avLst>
              <a:gd name="adj1" fmla="val 6500"/>
              <a:gd name="adj2" fmla="val 19892"/>
            </a:avLst>
          </a:prstGeom>
          <a:ln w="1905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2" name="타원 71">
            <a:extLst>
              <a:ext uri="{FF2B5EF4-FFF2-40B4-BE49-F238E27FC236}">
                <a16:creationId xmlns:a16="http://schemas.microsoft.com/office/drawing/2014/main" id="{E8820676-F27B-43D4-A443-A733DFF3BD09}"/>
              </a:ext>
            </a:extLst>
          </p:cNvPr>
          <p:cNvSpPr/>
          <p:nvPr/>
        </p:nvSpPr>
        <p:spPr>
          <a:xfrm>
            <a:off x="6872730" y="3609192"/>
            <a:ext cx="629458" cy="292609"/>
          </a:xfrm>
          <a:prstGeom prst="ellipse">
            <a:avLst/>
          </a:prstGeom>
          <a:noFill/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A1F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AI Docs — 개요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694944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8899BB"/>
                </a:solidFill>
              </a:rPr>
              <a:t>AI 개발 도구에게 프로젝트 정보를 전달하는 지침 문서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65760" y="1078992"/>
            <a:ext cx="8412480" cy="960120"/>
          </a:xfrm>
          <a:prstGeom prst="rect">
            <a:avLst/>
          </a:prstGeom>
          <a:solidFill>
            <a:srgbClr val="252D4D"/>
          </a:solidFill>
          <a:ln w="25400">
            <a:solidFill>
              <a:srgbClr val="34D399"/>
            </a:solidFill>
            <a:prstDash val="solid"/>
          </a:ln>
          <a:effectLst>
            <a:outerShdw blurRad="101600" dist="254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078992"/>
            <a:ext cx="8412480" cy="54864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1143000"/>
            <a:ext cx="822960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CLAUDE.md / AGENTS.md / GEMINI.md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C8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루트에 두면 각 AI Agent가 자동으로 읽음. Instruction·Rule은 @멘션 또는 상위 문서에서 참조하도록 설정.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365760" y="2176272"/>
            <a:ext cx="2651760" cy="2834640"/>
          </a:xfrm>
          <a:prstGeom prst="rect">
            <a:avLst/>
          </a:prstGeom>
          <a:solidFill>
            <a:srgbClr val="252D4D"/>
          </a:solidFill>
          <a:ln w="25400">
            <a:solidFill>
              <a:srgbClr val="34D399"/>
            </a:solidFill>
            <a:prstDash val="solid"/>
          </a:ln>
          <a:effectLst>
            <a:outerShdw blurRad="101600" dist="254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65760" y="2176272"/>
            <a:ext cx="2651760" cy="54864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5760" y="2249424"/>
            <a:ext cx="2651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🗺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475488" y="2670048"/>
            <a:ext cx="243230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34D399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Context (맥락·배경지식)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30352" y="3127248"/>
            <a:ext cx="2322576" cy="274320"/>
          </a:xfrm>
          <a:prstGeom prst="rect">
            <a:avLst/>
          </a:prstGeom>
          <a:solidFill>
            <a:srgbClr val="34D399">
              <a:alpha val="25000"/>
            </a:srgbClr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30352" y="3127248"/>
            <a:ext cx="232257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34D399"/>
                </a:solidFill>
              </a:rPr>
              <a:t>프로젝트가 무엇인지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30352" y="3474720"/>
            <a:ext cx="2322576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기술 스택, 구조, 패턴 정의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AI가 상황을 이해하는 배경지식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예: Java 17 / Spring Boot / PostgreSQL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예: Controller → Service → Repository 구조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246120" y="2176272"/>
            <a:ext cx="2651760" cy="2834640"/>
          </a:xfrm>
          <a:prstGeom prst="rect">
            <a:avLst/>
          </a:prstGeom>
          <a:solidFill>
            <a:srgbClr val="252D4D"/>
          </a:solidFill>
          <a:ln w="25400">
            <a:solidFill>
              <a:srgbClr val="4FC3F7"/>
            </a:solidFill>
            <a:prstDash val="solid"/>
          </a:ln>
          <a:effectLst>
            <a:outerShdw blurRad="101600" dist="254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246120" y="2176272"/>
            <a:ext cx="2651760" cy="54864"/>
          </a:xfrm>
          <a:prstGeom prst="rect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246120" y="2249424"/>
            <a:ext cx="2651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📋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3355848" y="2670048"/>
            <a:ext cx="243230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4FC3F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Instruction (지침·작업방식)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3410712" y="3127248"/>
            <a:ext cx="2322576" cy="274320"/>
          </a:xfrm>
          <a:prstGeom prst="rect">
            <a:avLst/>
          </a:prstGeom>
          <a:solidFill>
            <a:srgbClr val="4FC3F7">
              <a:alpha val="25000"/>
            </a:srgbClr>
          </a:solidFill>
          <a:ln w="12700">
            <a:solidFill>
              <a:srgbClr val="4FC3F7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410712" y="3127248"/>
            <a:ext cx="232257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4FC3F7"/>
                </a:solidFill>
              </a:rPr>
              <a:t>작업을 어떻게 수행할지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410712" y="3474720"/>
            <a:ext cx="2322576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단계별 상세 작업 방식 정의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AI의 행동 방식 명세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예: 요구분석 → 영향범위 → 코드 → 테스트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응답 형식: 설명 → 코드 → 요약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6126480" y="2176272"/>
            <a:ext cx="2651760" cy="2834640"/>
          </a:xfrm>
          <a:prstGeom prst="rect">
            <a:avLst/>
          </a:prstGeom>
          <a:solidFill>
            <a:srgbClr val="252D4D"/>
          </a:solidFill>
          <a:ln w="25400">
            <a:solidFill>
              <a:srgbClr val="FBBF24"/>
            </a:solidFill>
            <a:prstDash val="solid"/>
          </a:ln>
          <a:effectLst>
            <a:outerShdw blurRad="101600" dist="254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6126480" y="2176272"/>
            <a:ext cx="2651760" cy="54864"/>
          </a:xfrm>
          <a:prstGeom prst="rect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126480" y="2249424"/>
            <a:ext cx="2651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📏</a:t>
            </a:r>
            <a:endParaRPr lang="en-US" sz="2200" dirty="0"/>
          </a:p>
        </p:txBody>
      </p:sp>
      <p:sp>
        <p:nvSpPr>
          <p:cNvPr id="25" name="Text 23"/>
          <p:cNvSpPr/>
          <p:nvPr/>
        </p:nvSpPr>
        <p:spPr>
          <a:xfrm>
            <a:off x="6236208" y="2670048"/>
            <a:ext cx="243230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BBF2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Rule (규칙·엄격한 제약)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6291072" y="3127248"/>
            <a:ext cx="2322576" cy="274320"/>
          </a:xfrm>
          <a:prstGeom prst="rect">
            <a:avLst/>
          </a:prstGeom>
          <a:solidFill>
            <a:srgbClr val="FBBF24">
              <a:alpha val="25000"/>
            </a:srgbClr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291072" y="3127248"/>
            <a:ext cx="232257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BBF24"/>
                </a:solidFill>
              </a:rPr>
              <a:t>반드시 지켜야 할 제약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6291072" y="3474720"/>
            <a:ext cx="2322576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코딩 컨벤션, 금지사항 명시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위반 시 오류가 되는 사항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예: Controller 비즈니스로직 금지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예: Entity 직접 반환 금지 (DTO 변환 필수)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7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82880"/>
            <a:ext cx="8412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276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AI Docs — Context 실전 예시 (CLAUDE.md)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841248"/>
            <a:ext cx="4846320" cy="4206240"/>
          </a:xfrm>
          <a:prstGeom prst="rect">
            <a:avLst/>
          </a:prstGeom>
          <a:solidFill>
            <a:srgbClr val="0D1117"/>
          </a:solidFill>
          <a:ln w="19050">
            <a:solidFill>
              <a:srgbClr val="34D39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896112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4D399"/>
                </a:solidFill>
              </a:rPr>
              <a:t>📄  CLAUDE.md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02920" y="1207008"/>
            <a:ext cx="4572000" cy="3749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899B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Claude AI Guide
---
</a:t>
            </a:r>
            <a:r>
              <a:rPr lang="en-US" sz="1050" dirty="0">
                <a:solidFill>
                  <a:srgbClr val="4FC3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## 1️⃣ Context (프로젝트 맥락)
</a:t>
            </a:r>
            <a:r>
              <a:rPr lang="en-US" sz="1050" dirty="0">
                <a:solidFill>
                  <a:srgbClr val="C8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### 프로젝트 개요
</a:t>
            </a: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Spring Boot 기반 인증 API 서버
- JWT 기반 인증 구조 사용
</a:t>
            </a:r>
            <a:r>
              <a:rPr lang="en-US" sz="1050" dirty="0">
                <a:solidFill>
                  <a:srgbClr val="C8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### 기술 스택
</a:t>
            </a:r>
            <a:r>
              <a:rPr lang="en-US" sz="1050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Java 17  /  Spring Boot 3.x
- PostgreSQL  /  Gradle
</a:t>
            </a:r>
            <a:r>
              <a:rPr lang="en-US" sz="1050" dirty="0">
                <a:solidFill>
                  <a:srgbClr val="C8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### 아키텍처
</a:t>
            </a: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Controller → Service → Repository
- DTO / Entity 분리
- GlobalExceptionHandler 사용
</a:t>
            </a:r>
            <a:r>
              <a:rPr lang="en-US" sz="1050" dirty="0">
                <a:solidFill>
                  <a:srgbClr val="4FC3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## 2️⃣ Instruction
</a:t>
            </a:r>
            <a:r>
              <a:rPr lang="en-US" sz="1050" dirty="0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@.ai/instruction/coding-style.md
</a:t>
            </a:r>
            <a:r>
              <a:rPr lang="en-US" sz="1050" dirty="0">
                <a:solidFill>
                  <a:srgbClr val="4FC3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## 3️⃣ Rule
</a:t>
            </a:r>
            <a:r>
              <a:rPr lang="en-US" sz="1050" dirty="0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@.ai/rules/global-rules.md
@.ai/rules/backend-rules.md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5394960" y="841248"/>
            <a:ext cx="3383280" cy="1325880"/>
          </a:xfrm>
          <a:prstGeom prst="rect">
            <a:avLst/>
          </a:prstGeom>
          <a:solidFill>
            <a:srgbClr val="FFFFFF"/>
          </a:solidFill>
          <a:ln w="19050">
            <a:solidFill>
              <a:srgbClr val="34D399"/>
            </a:solidFill>
            <a:prstDash val="solid"/>
          </a:ln>
          <a:effectLst>
            <a:outerShdw blurRad="101600" dist="254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5394960" y="841248"/>
            <a:ext cx="3383280" cy="45720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532120" y="932688"/>
            <a:ext cx="3108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4D399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자동 로드 파일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532120" y="1280160"/>
            <a:ext cx="310896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CLAUDE.md → Claude Code 자동 인식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AGENTS.md → Codex 자동 인식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GEMINI.md → Gemini/Antigravity 자동 인식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루트 또는 하위 디렉토리에 위치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394960" y="2258568"/>
            <a:ext cx="3383280" cy="1325880"/>
          </a:xfrm>
          <a:prstGeom prst="rect">
            <a:avLst/>
          </a:prstGeom>
          <a:solidFill>
            <a:srgbClr val="FFFFFF"/>
          </a:solidFill>
          <a:ln w="19050">
            <a:solidFill>
              <a:srgbClr val="4FC3F7"/>
            </a:solidFill>
            <a:prstDash val="solid"/>
          </a:ln>
          <a:effectLst>
            <a:outerShdw blurRad="101600" dist="254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5394960" y="2258568"/>
            <a:ext cx="3383280" cy="45720"/>
          </a:xfrm>
          <a:prstGeom prst="rect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532120" y="2350008"/>
            <a:ext cx="3108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4FC3F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@멘션으로 참조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5532120" y="2697480"/>
            <a:ext cx="310896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Instruction·Rule은 임의 이름의 .md 파일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@경로 형태로 멘션하면 AI가 읽음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상위 문서에서 언급해도 읽음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대화 맥락을 통해 자동 로드되기도 함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394960" y="3675888"/>
            <a:ext cx="3383280" cy="1325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BBF24"/>
            </a:solidFill>
            <a:prstDash val="solid"/>
          </a:ln>
          <a:effectLst>
            <a:outerShdw blurRad="101600" dist="254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5394960" y="3675888"/>
            <a:ext cx="3383280" cy="45720"/>
          </a:xfrm>
          <a:prstGeom prst="rect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532120" y="3767328"/>
            <a:ext cx="3108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BBF2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규모별 관리 방식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5532120" y="4114800"/>
            <a:ext cx="310896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소규모: CLAUDE.md 하나에 모두 통합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대규모: 계층별·도메인별 파일 분리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예: .ai/instruction/ .ai/rules/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PRD, Prompt 등 이름도 자유롭게 사용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A1F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AI Docs — Instruction &amp; Rule </a:t>
            </a:r>
            <a:r>
              <a:rPr lang="en-US" sz="2600" b="1" dirty="0" err="1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예시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841248"/>
            <a:ext cx="4114800" cy="4206240"/>
          </a:xfrm>
          <a:prstGeom prst="rect">
            <a:avLst/>
          </a:prstGeom>
          <a:solidFill>
            <a:srgbClr val="0D1117"/>
          </a:solidFill>
          <a:ln w="19050">
            <a:solidFill>
              <a:srgbClr val="4FC3F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896112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4FC3F7"/>
                </a:solidFill>
              </a:rPr>
              <a:t>📋  coding-style.md  (Instruction)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02920" y="1298448"/>
            <a:ext cx="3840480" cy="3749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FC3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## 작업 전 확인
</a:t>
            </a:r>
            <a:r>
              <a:rPr lang="en-US" sz="9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관련 PRD 존재 시 반드시 읽는다
</a:t>
            </a:r>
            <a:r>
              <a:rPr lang="en-US" sz="900" dirty="0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예: @doc/prd/auth-feature.md
</a:t>
            </a:r>
            <a:r>
              <a:rPr lang="en-US" sz="900" dirty="0">
                <a:solidFill>
                  <a:srgbClr val="8899B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---
</a:t>
            </a:r>
            <a:r>
              <a:rPr lang="en-US" sz="900" dirty="0">
                <a:solidFill>
                  <a:srgbClr val="4FC3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## 작업 절차
</a:t>
            </a:r>
            <a:r>
              <a:rPr lang="en-US" sz="9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1. 요구사항 분석
2. 영향 범위 확인
3. 코드 작성
4. 테스트/예외 검토
</a:t>
            </a:r>
            <a:r>
              <a:rPr lang="en-US" sz="900" dirty="0">
                <a:solidFill>
                  <a:srgbClr val="8899B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---
</a:t>
            </a:r>
            <a:r>
              <a:rPr lang="en-US" sz="900" dirty="0">
                <a:solidFill>
                  <a:srgbClr val="4FC3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## 응답 형식
</a:t>
            </a:r>
            <a:r>
              <a:rPr lang="en-US" sz="9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설명 → 코드 → 요약 순서
- 변경 코드 diff 형식 출력
- 새 파일은 전체 코드 제공
</a:t>
            </a:r>
            <a:r>
              <a:rPr lang="en-US" sz="900" dirty="0">
                <a:solidFill>
                  <a:srgbClr val="4FC3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## 반드시 준수할 규칙
</a:t>
            </a:r>
            <a:r>
              <a:rPr lang="en-US" sz="900" dirty="0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@.ai/rules/global-rules.md
@.ai/rules/backend-rules.md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663440" y="841248"/>
            <a:ext cx="4114800" cy="4206240"/>
          </a:xfrm>
          <a:prstGeom prst="rect">
            <a:avLst/>
          </a:prstGeom>
          <a:solidFill>
            <a:srgbClr val="0D1117"/>
          </a:solidFill>
          <a:ln w="19050">
            <a:solidFill>
              <a:srgbClr val="FBBF2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800600" y="896112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BBF24"/>
                </a:solidFill>
              </a:rPr>
              <a:t>📏  global-rules.md  (Rule)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800600" y="1188720"/>
            <a:ext cx="3840480" cy="3749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## 아키텍처 규칙
</a:t>
            </a:r>
            <a:r>
              <a:rPr lang="en-US" sz="1000" dirty="0">
                <a:solidFill>
                  <a:srgbClr val="F8717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Controller에 비즈니스 로직 작성 금지
- Service 계층에서만 트랜잭션 허용
- Entity 직접 반환 금지 (DTO 변환 필수)
</a:t>
            </a:r>
            <a:r>
              <a:rPr lang="en-US" sz="1000" dirty="0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## 코드 규칙
</a:t>
            </a:r>
            <a:r>
              <a:rPr lang="en-US" sz="1000" dirty="0">
                <a:solidFill>
                  <a:srgbClr val="F8717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하드코딩 금지
- Optional.get() 직접 사용 금지
- 로그에 민감 정보 출력 금지
</a:t>
            </a: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위반 시:
1. 위반 내용 명시
2. 수정 코드 제안
</a:t>
            </a:r>
            <a:r>
              <a:rPr lang="en-US" sz="1000" dirty="0">
                <a:solidFill>
                  <a:srgbClr val="8899B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---
</a:t>
            </a:r>
            <a:r>
              <a:rPr lang="en-US" sz="1000" dirty="0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backend-rules.md
</a:t>
            </a:r>
            <a:r>
              <a:rPr lang="en-US" sz="1000" dirty="0">
                <a:solidFill>
                  <a:srgbClr val="F8717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@Transactional은 Service만 선언
- Repository 비즈니스 로직 금지
- Response는 공통 Wrapper 사용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7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82880"/>
            <a:ext cx="8412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276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AI Docs — 파일 위치 &amp; 프로젝트 구조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822960"/>
            <a:ext cx="4480560" cy="4206240"/>
          </a:xfrm>
          <a:prstGeom prst="rect">
            <a:avLst/>
          </a:prstGeom>
          <a:solidFill>
            <a:srgbClr val="0D1117"/>
          </a:solidFill>
          <a:ln w="19050">
            <a:solidFill>
              <a:srgbClr val="34D39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877824"/>
            <a:ext cx="3200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4D399"/>
                </a:solidFill>
              </a:rPr>
              <a:t>📁  프로젝트 폴더 구조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02920" y="843358"/>
            <a:ext cx="4206240" cy="3749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Project/
</a:t>
            </a:r>
            <a:r>
              <a:rPr lang="en-US" sz="1100" dirty="0">
                <a:solidFill>
                  <a:srgbClr val="8899B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
</a:t>
            </a:r>
            <a:r>
              <a:rPr lang="en-US" sz="1100" dirty="0">
                <a:solidFill>
                  <a:srgbClr val="4FC3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 CLAUDE.md        </a:t>
            </a:r>
            <a:r>
              <a:rPr lang="en-US" sz="1100" dirty="0">
                <a:solidFill>
                  <a:srgbClr val="8899B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Claude 진입점 (자동로드)
</a:t>
            </a:r>
            <a:r>
              <a:rPr lang="en-US" sz="1100" dirty="0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 GEMINI.md        </a:t>
            </a:r>
            <a:r>
              <a:rPr lang="en-US" sz="1100" dirty="0">
                <a:solidFill>
                  <a:srgbClr val="8899B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Gemini/Antigravity 진입점
</a:t>
            </a:r>
            <a:r>
              <a:rPr lang="en-US" sz="1100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 AGENTS.md        </a:t>
            </a:r>
            <a:r>
              <a:rPr lang="en-US" sz="1100" dirty="0">
                <a:solidFill>
                  <a:srgbClr val="8899B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Codex 진입점
│
</a:t>
            </a:r>
            <a:r>
              <a:rPr lang="en-US" sz="1100" dirty="0">
                <a:solidFill>
                  <a:srgbClr val="C8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 .ai/
</a:t>
            </a: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├─ instruction/
</a:t>
            </a:r>
            <a:r>
              <a:rPr lang="en-US" sz="1100" dirty="0">
                <a:solidFill>
                  <a:srgbClr val="8899B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│   ├─ coding-style.md
│   │   └─ review-process.md
│   │
</a:t>
            </a: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└─ rules/
</a:t>
            </a:r>
            <a:r>
              <a:rPr lang="en-US" sz="1100" dirty="0">
                <a:solidFill>
                  <a:srgbClr val="8899B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    ├─ global-rules.md
│       └─ backend-rules.md
│
</a:t>
            </a: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└─ doc/
    └─ prd/
</a:t>
            </a:r>
            <a:r>
              <a:rPr lang="en-US" sz="1100" dirty="0">
                <a:solidFill>
                  <a:srgbClr val="8899B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└─ auth-feature.md
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029200" y="822960"/>
            <a:ext cx="3749040" cy="1325880"/>
          </a:xfrm>
          <a:prstGeom prst="rect">
            <a:avLst/>
          </a:prstGeom>
          <a:solidFill>
            <a:srgbClr val="FFFFFF"/>
          </a:solidFill>
          <a:ln w="19050">
            <a:solidFill>
              <a:srgbClr val="4FC3F7"/>
            </a:solidFill>
            <a:prstDash val="solid"/>
          </a:ln>
          <a:effectLst>
            <a:outerShdw blurRad="101600" dist="254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5029200" y="822960"/>
            <a:ext cx="3749040" cy="54864"/>
          </a:xfrm>
          <a:prstGeom prst="rect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166360" y="932688"/>
            <a:ext cx="3474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4FC3F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Claude Code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5166360" y="1325880"/>
            <a:ext cx="347472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CLAUDE.md (루트 → 자동로드)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하위 디렉토리는 읽도록 명시 필요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029200" y="2240280"/>
            <a:ext cx="3749040" cy="1325880"/>
          </a:xfrm>
          <a:prstGeom prst="rect">
            <a:avLst/>
          </a:prstGeom>
          <a:solidFill>
            <a:srgbClr val="FFFFFF"/>
          </a:solidFill>
          <a:ln w="19050">
            <a:solidFill>
              <a:srgbClr val="34D399"/>
            </a:solidFill>
            <a:prstDash val="solid"/>
          </a:ln>
          <a:effectLst>
            <a:outerShdw blurRad="101600" dist="254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5029200" y="2240280"/>
            <a:ext cx="3749040" cy="54864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166360" y="2350008"/>
            <a:ext cx="3474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34D399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OpenAI Codex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5166360" y="2743200"/>
            <a:ext cx="347472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AGENTS.md (프로젝트 루트)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Instruction·Rule은 @멘션 참조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029200" y="3657600"/>
            <a:ext cx="3749040" cy="1325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BBF24"/>
            </a:solidFill>
            <a:prstDash val="solid"/>
          </a:ln>
          <a:effectLst>
            <a:outerShdw blurRad="101600" dist="254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5029200" y="3657600"/>
            <a:ext cx="3749040" cy="54864"/>
          </a:xfrm>
          <a:prstGeom prst="rect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166360" y="3767328"/>
            <a:ext cx="3474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BBF2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Gemini / Antigravity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5166360" y="4160520"/>
            <a:ext cx="347472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GEMINI.md (프로젝트 루트)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 CLI: /Permission 커맨드로 권한 확인 필수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76656" y="4235782"/>
            <a:ext cx="3749040" cy="713232"/>
          </a:xfrm>
          <a:prstGeom prst="rect">
            <a:avLst/>
          </a:prstGeom>
          <a:solidFill>
            <a:srgbClr val="FFF8E7"/>
          </a:solidFill>
          <a:ln w="19050">
            <a:solidFill>
              <a:srgbClr val="FBBF24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816" y="4290646"/>
            <a:ext cx="3474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규모별 선택
</a:t>
            </a:r>
            <a:r>
              <a:rPr lang="en-US" sz="1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소규모: </a:t>
            </a:r>
            <a:r>
              <a:rPr lang="en-US" altLang="ko-KR" sz="1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</a:t>
            </a:r>
            <a:r>
              <a:rPr lang="en-US" sz="1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.md 하나에 통합  |  대규모: .ai/ 폴더로 계층 분리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A1F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Skills — 무엇인가?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65760" y="822960"/>
            <a:ext cx="8412480" cy="868680"/>
          </a:xfrm>
          <a:prstGeom prst="rect">
            <a:avLst/>
          </a:prstGeom>
          <a:solidFill>
            <a:srgbClr val="252D4D"/>
          </a:solidFill>
          <a:ln w="25400">
            <a:solidFill>
              <a:srgbClr val="4FC3F7"/>
            </a:solidFill>
            <a:prstDash val="solid"/>
          </a:ln>
          <a:effectLst>
            <a:outerShdw blurRad="101600" dist="254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822960"/>
            <a:ext cx="8412480" cy="64008"/>
          </a:xfrm>
          <a:prstGeom prst="rect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896112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LLM이 특정 작업을 구조화된 방식으로 수행하도록 정의한  </a:t>
            </a:r>
            <a:r>
              <a:rPr lang="en-US" sz="1400" b="1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재사용 가능한 작업 단위 (프롬프트 패키지)
</a:t>
            </a:r>
            <a:r>
              <a:rPr lang="en-US" sz="1400" i="1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단순 프롬프트 한 줄이 아닌, 역할·지침·템플릿·스크립트를 포함해 하나의 "기능"처럼 동작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365760" y="1847088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4FC3F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왜 사용하는가?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365760" y="2267712"/>
            <a:ext cx="2743200" cy="1371600"/>
          </a:xfrm>
          <a:prstGeom prst="rect">
            <a:avLst/>
          </a:prstGeom>
          <a:solidFill>
            <a:srgbClr val="252D4D"/>
          </a:solidFill>
          <a:ln w="19050">
            <a:solidFill>
              <a:srgbClr val="4FC3F7"/>
            </a:solidFill>
            <a:prstDash val="solid"/>
          </a:ln>
          <a:effectLst>
            <a:outerShdw blurRad="101600" dist="254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65760" y="2331720"/>
            <a:ext cx="2743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💰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475488" y="2761488"/>
            <a:ext cx="252374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4FC3F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토큰 절약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239151" y="3090672"/>
            <a:ext cx="299641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899BB"/>
                </a:solidFill>
              </a:rPr>
              <a:t>매번 긴 프롬프트 입력 시 토큰이 계속 증가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8899BB"/>
                </a:solidFill>
              </a:rPr>
              <a:t>Skills는 /multi-review처럼 짧은 명령어로 호출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291840" y="2267712"/>
            <a:ext cx="2743200" cy="1371600"/>
          </a:xfrm>
          <a:prstGeom prst="rect">
            <a:avLst/>
          </a:prstGeom>
          <a:solidFill>
            <a:srgbClr val="252D4D"/>
          </a:solidFill>
          <a:ln w="19050">
            <a:solidFill>
              <a:srgbClr val="4FC3F7"/>
            </a:solidFill>
            <a:prstDash val="solid"/>
          </a:ln>
          <a:effectLst>
            <a:outerShdw blurRad="101600" dist="254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3291840" y="2331720"/>
            <a:ext cx="2743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🔁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3401568" y="2761488"/>
            <a:ext cx="252374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4FC3F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재사용성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3108960" y="3090672"/>
            <a:ext cx="31089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899BB"/>
                </a:solidFill>
              </a:rPr>
              <a:t>한 번 정의하면 여러 프로젝트·맥락에서 재사용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8899BB"/>
                </a:solidFill>
              </a:rPr>
              <a:t>팀 전체가 동일한 방식으로 작업 가능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217920" y="2267712"/>
            <a:ext cx="2743200" cy="1371600"/>
          </a:xfrm>
          <a:prstGeom prst="rect">
            <a:avLst/>
          </a:prstGeom>
          <a:solidFill>
            <a:srgbClr val="252D4D"/>
          </a:solidFill>
          <a:ln w="19050">
            <a:solidFill>
              <a:srgbClr val="4FC3F7"/>
            </a:solidFill>
            <a:prstDash val="solid"/>
          </a:ln>
          <a:effectLst>
            <a:outerShdw blurRad="101600" dist="254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6217920" y="2331720"/>
            <a:ext cx="2743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🎯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6327648" y="2761488"/>
            <a:ext cx="252374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4FC3F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일관성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126480" y="3090672"/>
            <a:ext cx="29260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899BB"/>
                </a:solidFill>
              </a:rPr>
              <a:t>매번 다른 결과 없이 정해진 방식으로 일관된 출력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8899BB"/>
                </a:solidFill>
              </a:rPr>
              <a:t>코드 리뷰·문서화 등 반복 작업에 특히 효과적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365760" y="3767328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4FC3F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파일 형태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365760" y="4133088"/>
            <a:ext cx="4114800" cy="914400"/>
          </a:xfrm>
          <a:prstGeom prst="rect">
            <a:avLst/>
          </a:prstGeom>
          <a:solidFill>
            <a:srgbClr val="0D1117"/>
          </a:solidFill>
          <a:ln w="12700">
            <a:solidFill>
              <a:srgbClr val="4FC3F7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02920" y="4187952"/>
            <a:ext cx="384048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8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.claude/skills/
</a:t>
            </a: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 multi-review/
</a:t>
            </a:r>
            <a:r>
              <a:rPr lang="en-US" sz="1100" dirty="0">
                <a:solidFill>
                  <a:srgbClr val="8899B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├─ </a:t>
            </a:r>
            <a:r>
              <a:rPr lang="en-US" sz="1100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SKILL.md</a:t>
            </a:r>
            <a:r>
              <a:rPr lang="en-US" sz="1100" dirty="0">
                <a:solidFill>
                  <a:srgbClr val="8899B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# 핵심 지침
│   ├─ template.md    # 템플릿
│   └─ scripts/       # 스크립트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663440" y="3767328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34D399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호출 방식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4663440" y="4133088"/>
            <a:ext cx="1371600" cy="914400"/>
          </a:xfrm>
          <a:prstGeom prst="rect">
            <a:avLst/>
          </a:prstGeom>
          <a:solidFill>
            <a:srgbClr val="252D4D"/>
          </a:solidFill>
          <a:ln w="19050">
            <a:solidFill>
              <a:srgbClr val="34D399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663440" y="4133088"/>
            <a:ext cx="1371600" cy="45720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709160" y="4206240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34D399"/>
                </a:solidFill>
              </a:rPr>
              <a:t>/명령어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4709160" y="4507992"/>
            <a:ext cx="1280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899BB"/>
                </a:solidFill>
              </a:rPr>
              <a:t>/multi-review 입력으로 즉시 호출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6172200" y="4133088"/>
            <a:ext cx="1371600" cy="914400"/>
          </a:xfrm>
          <a:prstGeom prst="rect">
            <a:avLst/>
          </a:prstGeom>
          <a:solidFill>
            <a:srgbClr val="252D4D"/>
          </a:solidFill>
          <a:ln w="19050">
            <a:solidFill>
              <a:srgbClr val="FBBF24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172200" y="4133088"/>
            <a:ext cx="1371600" cy="45720"/>
          </a:xfrm>
          <a:prstGeom prst="rect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217920" y="4206240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BBF24"/>
                </a:solidFill>
              </a:rPr>
              <a:t>자동 로드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6217920" y="4507992"/>
            <a:ext cx="1280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899BB"/>
                </a:solidFill>
              </a:rPr>
              <a:t>AI가 맥락 파악 후 자동으로 Skills 참조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7680960" y="4133088"/>
            <a:ext cx="1371600" cy="914400"/>
          </a:xfrm>
          <a:prstGeom prst="rect">
            <a:avLst/>
          </a:prstGeom>
          <a:solidFill>
            <a:srgbClr val="252D4D"/>
          </a:solidFill>
          <a:ln w="19050">
            <a:solidFill>
              <a:srgbClr val="A78BFA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7680960" y="4133088"/>
            <a:ext cx="1371600" cy="45720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7726680" y="4206240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A78BFA"/>
                </a:solidFill>
              </a:rPr>
              <a:t>@멘션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7726680" y="4507992"/>
            <a:ext cx="1280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899BB"/>
                </a:solidFill>
              </a:rPr>
              <a:t>@경로로 직접 지정하여 호출 가능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7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82880"/>
            <a:ext cx="8412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276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Skills — 도구별 적용 방법 &amp; 주의사항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841248"/>
            <a:ext cx="1965960" cy="4206240"/>
          </a:xfrm>
          <a:prstGeom prst="rect">
            <a:avLst/>
          </a:prstGeom>
          <a:solidFill>
            <a:srgbClr val="FFFFFF"/>
          </a:solidFill>
          <a:ln w="25400">
            <a:solidFill>
              <a:srgbClr val="4FC3F7"/>
            </a:solidFill>
            <a:prstDash val="solid"/>
          </a:ln>
          <a:effectLst>
            <a:outerShdw blurRad="101600" dist="254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841248"/>
            <a:ext cx="1965960" cy="64008"/>
          </a:xfrm>
          <a:prstGeom prst="rect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914400"/>
            <a:ext cx="1965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🖥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457200" y="1280160"/>
            <a:ext cx="1783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4FC3F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Claude Code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57200" y="1737360"/>
            <a:ext cx="1783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8899BB"/>
                </a:solidFill>
              </a:rPr>
              <a:t>📁  경로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57200" y="2011680"/>
            <a:ext cx="1783080" cy="502920"/>
          </a:xfrm>
          <a:prstGeom prst="rect">
            <a:avLst/>
          </a:prstGeom>
          <a:solidFill>
            <a:srgbClr val="0D1117"/>
          </a:solidFill>
          <a:ln w="6350">
            <a:solidFill>
              <a:srgbClr val="4FC3F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2920" y="2011680"/>
            <a:ext cx="1691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4FC3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.claude/skills/*/SKILL.md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457200" y="2578608"/>
            <a:ext cx="1783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8899BB"/>
                </a:solidFill>
              </a:rPr>
              <a:t>⌨️  커맨드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57200" y="2852928"/>
            <a:ext cx="1783080" cy="502920"/>
          </a:xfrm>
          <a:prstGeom prst="rect">
            <a:avLst/>
          </a:prstGeom>
          <a:solidFill>
            <a:srgbClr val="0D1117"/>
          </a:solidFill>
          <a:ln w="6350">
            <a:solidFill>
              <a:srgbClr val="4FC3F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02920" y="2852928"/>
            <a:ext cx="1691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/Skills 이름 (자동 통합)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411480" y="3525012"/>
            <a:ext cx="1783080" cy="7040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2026.01.24 (v2.1.3) — Slash Commands가 Skills로 통합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기존 .claude/commands/ 파일도 여전히 작동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 환경 및 VSCode Extension 모두 인식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2514600" y="841248"/>
            <a:ext cx="1965960" cy="4206240"/>
          </a:xfrm>
          <a:prstGeom prst="rect">
            <a:avLst/>
          </a:prstGeom>
          <a:solidFill>
            <a:srgbClr val="FFFFFF"/>
          </a:solidFill>
          <a:ln w="25400">
            <a:solidFill>
              <a:srgbClr val="34D399"/>
            </a:solidFill>
            <a:prstDash val="solid"/>
          </a:ln>
          <a:effectLst>
            <a:outerShdw blurRad="101600" dist="254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2514600" y="841248"/>
            <a:ext cx="1965960" cy="64008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514600" y="914400"/>
            <a:ext cx="1965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⚡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2606040" y="1280160"/>
            <a:ext cx="1783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34D399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OpenAI Codex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2606040" y="1737360"/>
            <a:ext cx="1783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8899BB"/>
                </a:solidFill>
              </a:rPr>
              <a:t>📁  경로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2606040" y="2011680"/>
            <a:ext cx="1783080" cy="502920"/>
          </a:xfrm>
          <a:prstGeom prst="rect">
            <a:avLst/>
          </a:prstGeom>
          <a:solidFill>
            <a:srgbClr val="0D1117"/>
          </a:solidFill>
          <a:ln w="6350">
            <a:solidFill>
              <a:srgbClr val="34D399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651760" y="2011680"/>
            <a:ext cx="1691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.agents/skills/*/SKILL.md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2606040" y="2578608"/>
            <a:ext cx="1783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8899BB"/>
                </a:solidFill>
              </a:rPr>
              <a:t>⌨️  커맨드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606040" y="2852928"/>
            <a:ext cx="1783080" cy="502920"/>
          </a:xfrm>
          <a:prstGeom prst="rect">
            <a:avLst/>
          </a:prstGeom>
          <a:solidFill>
            <a:srgbClr val="0D1117"/>
          </a:solidFill>
          <a:ln w="6350">
            <a:solidFill>
              <a:srgbClr val="34D399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651760" y="2852928"/>
            <a:ext cx="1691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/Skills 이름 (자동 통합)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2551176" y="3565680"/>
            <a:ext cx="17830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Code와 마찬가지로 Slash Commands 통합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.agents/skills/ 가 새로운 표준 경로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.codex/skills/ 는 레거시 지원 (Conflict 주의)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4663440" y="841248"/>
            <a:ext cx="1965960" cy="4206240"/>
          </a:xfrm>
          <a:prstGeom prst="rect">
            <a:avLst/>
          </a:prstGeom>
          <a:solidFill>
            <a:srgbClr val="FFFFFF"/>
          </a:solidFill>
          <a:ln w="25400">
            <a:solidFill>
              <a:srgbClr val="FBBF24"/>
            </a:solidFill>
            <a:prstDash val="solid"/>
          </a:ln>
          <a:effectLst>
            <a:outerShdw blurRad="101600" dist="254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4663440" y="841248"/>
            <a:ext cx="1965960" cy="64008"/>
          </a:xfrm>
          <a:prstGeom prst="rect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663440" y="914400"/>
            <a:ext cx="1965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💎</a:t>
            </a:r>
            <a:endParaRPr lang="en-US" sz="2000" dirty="0"/>
          </a:p>
        </p:txBody>
      </p:sp>
      <p:sp>
        <p:nvSpPr>
          <p:cNvPr id="29" name="Text 27"/>
          <p:cNvSpPr/>
          <p:nvPr/>
        </p:nvSpPr>
        <p:spPr>
          <a:xfrm>
            <a:off x="4754880" y="1280160"/>
            <a:ext cx="1783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BBF2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Gemini CLI / Code Assist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4754880" y="1737360"/>
            <a:ext cx="1783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8899BB"/>
                </a:solidFill>
              </a:rPr>
              <a:t>📁  경로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4754880" y="2011680"/>
            <a:ext cx="1783080" cy="502920"/>
          </a:xfrm>
          <a:prstGeom prst="rect">
            <a:avLst/>
          </a:prstGeom>
          <a:solidFill>
            <a:srgbClr val="0D1117"/>
          </a:solidFill>
          <a:ln w="6350">
            <a:solidFill>
              <a:srgbClr val="FBBF24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800600" y="2011680"/>
            <a:ext cx="1691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.agents/skills/*/SKILL.md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4754880" y="2578608"/>
            <a:ext cx="1783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8899BB"/>
                </a:solidFill>
              </a:rPr>
              <a:t>⌨️  커맨드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4754880" y="2852928"/>
            <a:ext cx="1783080" cy="502920"/>
          </a:xfrm>
          <a:prstGeom prst="rect">
            <a:avLst/>
          </a:prstGeom>
          <a:solidFill>
            <a:srgbClr val="0D1117"/>
          </a:solidFill>
          <a:ln w="6350">
            <a:solidFill>
              <a:srgbClr val="FBBF24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800600" y="2852928"/>
            <a:ext cx="1691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.gemini/commands/*.</a:t>
            </a:r>
            <a:r>
              <a:rPr lang="en-US" sz="700" dirty="0" err="1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toml</a:t>
            </a:r>
            <a:r>
              <a:rPr lang="en-US" sz="700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br>
              <a:rPr lang="en-US" sz="700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</a:br>
            <a:r>
              <a:rPr lang="en-US" sz="700" dirty="0" err="1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별도</a:t>
            </a:r>
            <a:r>
              <a:rPr lang="en-US" sz="700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작성 필요</a:t>
            </a:r>
            <a:endParaRPr lang="en-US" sz="700" dirty="0"/>
          </a:p>
        </p:txBody>
      </p:sp>
      <p:sp>
        <p:nvSpPr>
          <p:cNvPr id="36" name="Text 34"/>
          <p:cNvSpPr/>
          <p:nvPr/>
        </p:nvSpPr>
        <p:spPr>
          <a:xfrm>
            <a:off x="4754880" y="3429000"/>
            <a:ext cx="17830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Claude·Codex와 다르게 Commands와 Skills 분리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채팅창 자동완성 미지원 → @멘션이 더 효과적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CLI에서만 실제 적용 확인 가능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4754880" y="4302252"/>
            <a:ext cx="1783080" cy="617220"/>
          </a:xfrm>
          <a:prstGeom prst="rect">
            <a:avLst/>
          </a:prstGeom>
          <a:solidFill>
            <a:srgbClr val="FFF3CD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800600" y="4360984"/>
            <a:ext cx="1691640" cy="54019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00" dirty="0">
                <a:solidFill>
                  <a:srgbClr val="7B4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설정 필요: Path에 PowerShell.exe 추가</a:t>
            </a:r>
            <a:endParaRPr lang="en-US" sz="600" dirty="0"/>
          </a:p>
          <a:p>
            <a:pPr marL="0" indent="0">
              <a:buNone/>
            </a:pPr>
            <a:r>
              <a:rPr lang="en-US" sz="600" dirty="0">
                <a:solidFill>
                  <a:srgbClr val="7B4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/Permission 커맨드로 권한 </a:t>
            </a:r>
            <a:r>
              <a:rPr lang="en-US" sz="600" dirty="0" err="1">
                <a:solidFill>
                  <a:srgbClr val="7B4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확인</a:t>
            </a:r>
            <a:r>
              <a:rPr lang="en-US" sz="600" dirty="0">
                <a:solidFill>
                  <a:srgbClr val="7B4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br>
              <a:rPr lang="en-US" sz="600" dirty="0">
                <a:solidFill>
                  <a:srgbClr val="7B4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</a:br>
            <a:r>
              <a:rPr lang="en-US" sz="600" dirty="0">
                <a:solidFill>
                  <a:srgbClr val="7B4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(미설정 시 Skills 인식 안됨)</a:t>
            </a:r>
            <a:endParaRPr lang="en-US" sz="600" dirty="0"/>
          </a:p>
        </p:txBody>
      </p:sp>
      <p:sp>
        <p:nvSpPr>
          <p:cNvPr id="39" name="Shape 37"/>
          <p:cNvSpPr/>
          <p:nvPr/>
        </p:nvSpPr>
        <p:spPr>
          <a:xfrm>
            <a:off x="6812280" y="841248"/>
            <a:ext cx="1965960" cy="4206240"/>
          </a:xfrm>
          <a:prstGeom prst="rect">
            <a:avLst/>
          </a:prstGeom>
          <a:solidFill>
            <a:srgbClr val="FFFFFF"/>
          </a:solidFill>
          <a:ln w="25400">
            <a:solidFill>
              <a:srgbClr val="A78BFA"/>
            </a:solidFill>
            <a:prstDash val="solid"/>
          </a:ln>
          <a:effectLst>
            <a:outerShdw blurRad="101600" dist="254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6812280" y="841248"/>
            <a:ext cx="1965960" cy="64008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812280" y="914400"/>
            <a:ext cx="1965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🚀</a:t>
            </a:r>
            <a:endParaRPr lang="en-US" sz="2000" dirty="0"/>
          </a:p>
        </p:txBody>
      </p:sp>
      <p:sp>
        <p:nvSpPr>
          <p:cNvPr id="42" name="Text 40"/>
          <p:cNvSpPr/>
          <p:nvPr/>
        </p:nvSpPr>
        <p:spPr>
          <a:xfrm>
            <a:off x="6903720" y="1280160"/>
            <a:ext cx="1783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A78BF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Google Antigravity</a:t>
            </a:r>
            <a:endParaRPr lang="en-US" sz="1300" dirty="0"/>
          </a:p>
        </p:txBody>
      </p:sp>
      <p:sp>
        <p:nvSpPr>
          <p:cNvPr id="43" name="Text 41"/>
          <p:cNvSpPr/>
          <p:nvPr/>
        </p:nvSpPr>
        <p:spPr>
          <a:xfrm>
            <a:off x="6903720" y="1737360"/>
            <a:ext cx="1783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8899BB"/>
                </a:solidFill>
              </a:rPr>
              <a:t>📁  경로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6903720" y="2011680"/>
            <a:ext cx="1783080" cy="502920"/>
          </a:xfrm>
          <a:prstGeom prst="rect">
            <a:avLst/>
          </a:prstGeom>
          <a:solidFill>
            <a:srgbClr val="0D1117"/>
          </a:solidFill>
          <a:ln w="6350">
            <a:solidFill>
              <a:srgbClr val="A78BFA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949440" y="2011680"/>
            <a:ext cx="1691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A78B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.agent/skills/*/SKILL.md</a:t>
            </a:r>
            <a:endParaRPr lang="en-US" sz="800" dirty="0"/>
          </a:p>
        </p:txBody>
      </p:sp>
      <p:sp>
        <p:nvSpPr>
          <p:cNvPr id="46" name="Text 44"/>
          <p:cNvSpPr/>
          <p:nvPr/>
        </p:nvSpPr>
        <p:spPr>
          <a:xfrm>
            <a:off x="6903720" y="2578608"/>
            <a:ext cx="1783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8899BB"/>
                </a:solidFill>
              </a:rPr>
              <a:t>⌨️  커맨드</a:t>
            </a:r>
            <a:endParaRPr lang="en-US" sz="1100" dirty="0"/>
          </a:p>
        </p:txBody>
      </p:sp>
      <p:sp>
        <p:nvSpPr>
          <p:cNvPr id="47" name="Shape 45"/>
          <p:cNvSpPr/>
          <p:nvPr/>
        </p:nvSpPr>
        <p:spPr>
          <a:xfrm>
            <a:off x="6903720" y="2852928"/>
            <a:ext cx="1783080" cy="502920"/>
          </a:xfrm>
          <a:prstGeom prst="rect">
            <a:avLst/>
          </a:prstGeom>
          <a:solidFill>
            <a:srgbClr val="0D1117"/>
          </a:solidFill>
          <a:ln w="6350">
            <a:solidFill>
              <a:srgbClr val="A78BFA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6949440" y="2852928"/>
            <a:ext cx="1691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.agent/workflows/ </a:t>
            </a:r>
            <a:br>
              <a:rPr lang="en-US" sz="700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</a:br>
            <a:r>
              <a:rPr lang="ko-KR" altLang="en-US" sz="700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위치</a:t>
            </a:r>
            <a:r>
              <a:rPr lang="en-US" sz="700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에 Skills 복붙 후 /명령어</a:t>
            </a:r>
            <a:endParaRPr lang="en-US" sz="700" dirty="0"/>
          </a:p>
        </p:txBody>
      </p:sp>
      <p:sp>
        <p:nvSpPr>
          <p:cNvPr id="49" name="Text 47"/>
          <p:cNvSpPr/>
          <p:nvPr/>
        </p:nvSpPr>
        <p:spPr>
          <a:xfrm>
            <a:off x="6903720" y="3429000"/>
            <a:ext cx="17830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 단독 환경 (CLI 환경 없음)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무료 제공 / Gemini Pro 시 토큰 더 많음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Skills를 workflows 폴더에 복붙하면 커맨드로 사용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A1F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Commands &amp; Workflows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694944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8899BB"/>
                </a:solidFill>
              </a:rPr>
              <a:t>Skills를 실행 가능한 명령어로 연결하는 엔트리포인트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65760" y="1078992"/>
            <a:ext cx="3931920" cy="3931920"/>
          </a:xfrm>
          <a:prstGeom prst="rect">
            <a:avLst/>
          </a:prstGeom>
          <a:solidFill>
            <a:srgbClr val="252D4D"/>
          </a:solidFill>
          <a:ln w="25400">
            <a:solidFill>
              <a:srgbClr val="FBBF24"/>
            </a:solidFill>
            <a:prstDash val="solid"/>
          </a:ln>
          <a:effectLst>
            <a:outerShdw blurRad="101600" dist="254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078992"/>
            <a:ext cx="3931920" cy="64008"/>
          </a:xfrm>
          <a:prstGeom prst="rect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1170432"/>
            <a:ext cx="3657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BBF2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⌨️  개념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502920" y="1664208"/>
            <a:ext cx="3657600" cy="960120"/>
          </a:xfrm>
          <a:prstGeom prst="rect">
            <a:avLst/>
          </a:prstGeom>
          <a:solidFill>
            <a:srgbClr val="1E2761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1737360"/>
            <a:ext cx="3383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BBF24"/>
                </a:solidFill>
              </a:rPr>
              <a:t>Commands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40080" y="2048256"/>
            <a:ext cx="3383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8DCFC"/>
                </a:solidFill>
              </a:rPr>
              <a:t>LLM이 특정 Skills를 /명령어 형태로 실행할 수 있도록 연결하는 실행 트리거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02920" y="2715768"/>
            <a:ext cx="3657600" cy="960120"/>
          </a:xfrm>
          <a:prstGeom prst="rect">
            <a:avLst/>
          </a:prstGeom>
          <a:solidFill>
            <a:srgbClr val="1E2761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0080" y="2788920"/>
            <a:ext cx="3383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BBF24"/>
                </a:solidFill>
              </a:rPr>
              <a:t>Workflows(Antigravity)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640080" y="3099816"/>
            <a:ext cx="3383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ko-KR" altLang="en-US" sz="1200" dirty="0">
                <a:solidFill>
                  <a:srgbClr val="C8DCFC"/>
                </a:solidFill>
              </a:rPr>
              <a:t>단순한 기능 정의</a:t>
            </a:r>
            <a:r>
              <a:rPr lang="en-US" altLang="ko-KR" sz="1200" dirty="0">
                <a:solidFill>
                  <a:srgbClr val="C8DCFC"/>
                </a:solidFill>
              </a:rPr>
              <a:t>(Skills)</a:t>
            </a:r>
            <a:r>
              <a:rPr lang="ko-KR" altLang="en-US" sz="1200" dirty="0">
                <a:solidFill>
                  <a:srgbClr val="C8DCFC"/>
                </a:solidFill>
              </a:rPr>
              <a:t>를 넘어</a:t>
            </a:r>
            <a:r>
              <a:rPr lang="en-US" altLang="ko-KR" sz="1200" dirty="0">
                <a:solidFill>
                  <a:srgbClr val="C8DCFC"/>
                </a:solidFill>
              </a:rPr>
              <a:t>,</a:t>
            </a:r>
            <a:r>
              <a:rPr lang="en-US" sz="1200" dirty="0" err="1">
                <a:solidFill>
                  <a:srgbClr val="C8DCFC"/>
                </a:solidFill>
              </a:rPr>
              <a:t>하나</a:t>
            </a:r>
            <a:r>
              <a:rPr lang="en-US" sz="1200" dirty="0">
                <a:solidFill>
                  <a:srgbClr val="C8DCFC"/>
                </a:solidFill>
              </a:rPr>
              <a:t> 이상의 Skills를 묶어, 정해진 순서·조건에 따라 실행하는 시나리오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02920" y="3794760"/>
            <a:ext cx="3657600" cy="1097280"/>
          </a:xfrm>
          <a:prstGeom prst="rect">
            <a:avLst/>
          </a:prstGeom>
          <a:solidFill>
            <a:srgbClr val="1A2550"/>
          </a:solidFill>
          <a:ln w="12700">
            <a:solidFill>
              <a:srgbClr val="4FC3F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94360" y="3822192"/>
            <a:ext cx="34747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Skills = "기능 정의"
</a:t>
            </a:r>
            <a:r>
              <a:rPr lang="en-US" sz="120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Commands/Workflows = "실행 엔트리포인트"
</a:t>
            </a:r>
            <a:r>
              <a:rPr lang="en-US" sz="1200" dirty="0" err="1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Claude·Codex</a:t>
            </a:r>
            <a:r>
              <a:rPr lang="en-US" altLang="ko-KR" sz="1200" dirty="0" err="1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·Antigravity</a:t>
            </a:r>
            <a:r>
              <a:rPr lang="en-US" altLang="ko-KR" sz="1200" dirty="0">
                <a:solidFill>
                  <a:srgbClr val="C8DCFC"/>
                </a:solidFill>
              </a:rPr>
              <a:t> </a:t>
            </a:r>
            <a:r>
              <a:rPr lang="en-US" sz="1200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</a:t>
            </a:r>
            <a:r>
              <a:rPr lang="en-US" sz="1200" dirty="0" err="1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Skills와</a:t>
            </a:r>
            <a:r>
              <a:rPr lang="en-US" sz="1200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통합 → /Skills이름으로 바로 실행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Gemini·</a:t>
            </a:r>
            <a:r>
              <a:rPr lang="en-US" sz="1200" strike="sngStrike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Antigravity</a:t>
            </a:r>
            <a:r>
              <a:rPr lang="en-US" sz="1200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별도 파일로 Skills 호출 필요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480560" y="1078992"/>
            <a:ext cx="4297680" cy="3931920"/>
          </a:xfrm>
          <a:prstGeom prst="rect">
            <a:avLst/>
          </a:prstGeom>
          <a:solidFill>
            <a:srgbClr val="0D1117"/>
          </a:solidFill>
          <a:ln w="19050">
            <a:solidFill>
              <a:srgbClr val="FBBF2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617720" y="1133856"/>
            <a:ext cx="40233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BBF24"/>
                </a:solidFill>
              </a:rPr>
              <a:t>💎  Gemini Commands 작성 예시</a:t>
            </a:r>
            <a:endParaRPr lang="en-US" sz="1100" dirty="0"/>
          </a:p>
          <a:p>
            <a:pPr marL="0" indent="0">
              <a:buNone/>
            </a:pPr>
            <a:r>
              <a:rPr lang="en-US" sz="1100" b="1" dirty="0">
                <a:solidFill>
                  <a:srgbClr val="FBBF24"/>
                </a:solidFill>
              </a:rPr>
              <a:t>(.gemini/commands/multi-review.toml)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617720" y="1664208"/>
            <a:ext cx="402336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899B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description = "multi-review 실행"
</a:t>
            </a: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execute = </a:t>
            </a:r>
            <a:r>
              <a:rPr lang="en-US" sz="1100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".agents/skills/multi-review"
</a:t>
            </a: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prompt = """
</a:t>
            </a:r>
            <a:r>
              <a:rPr lang="en-US" sz="1100" dirty="0">
                <a:solidFill>
                  <a:srgbClr val="C8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.agents/skills/multi-review 에
정의된 Skills를 수행해줘
</a:t>
            </a: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"""
</a:t>
            </a:r>
            <a:endParaRPr lang="en-US" sz="1100" dirty="0"/>
          </a:p>
        </p:txBody>
      </p:sp>
      <p:grpSp>
        <p:nvGrpSpPr>
          <p:cNvPr id="49" name="그룹 48">
            <a:extLst>
              <a:ext uri="{FF2B5EF4-FFF2-40B4-BE49-F238E27FC236}">
                <a16:creationId xmlns:a16="http://schemas.microsoft.com/office/drawing/2014/main" id="{006E8938-3277-48F2-97BE-B64DB3EEAC4E}"/>
              </a:ext>
            </a:extLst>
          </p:cNvPr>
          <p:cNvGrpSpPr/>
          <p:nvPr/>
        </p:nvGrpSpPr>
        <p:grpSpPr>
          <a:xfrm>
            <a:off x="4544568" y="3172968"/>
            <a:ext cx="4170617" cy="1801368"/>
            <a:chOff x="4480560" y="3218688"/>
            <a:chExt cx="4297680" cy="2194560"/>
          </a:xfrm>
        </p:grpSpPr>
        <p:sp>
          <p:nvSpPr>
            <p:cNvPr id="19" name="Shape 17"/>
            <p:cNvSpPr/>
            <p:nvPr/>
          </p:nvSpPr>
          <p:spPr>
            <a:xfrm>
              <a:off x="4480560" y="3218688"/>
              <a:ext cx="1280160" cy="438912"/>
            </a:xfrm>
            <a:prstGeom prst="rect">
              <a:avLst/>
            </a:prstGeom>
            <a:solidFill>
              <a:srgbClr val="1E2761"/>
            </a:solidFill>
            <a:ln w="12700">
              <a:solidFill>
                <a:srgbClr val="2A3060"/>
              </a:solidFill>
              <a:prstDash val="solid"/>
            </a:ln>
          </p:spPr>
        </p:sp>
        <p:sp>
          <p:nvSpPr>
            <p:cNvPr id="20" name="Text 18"/>
            <p:cNvSpPr/>
            <p:nvPr/>
          </p:nvSpPr>
          <p:spPr>
            <a:xfrm>
              <a:off x="4544568" y="3218688"/>
              <a:ext cx="1152144" cy="438912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000" b="1" dirty="0">
                  <a:solidFill>
                    <a:srgbClr val="FFFFFF"/>
                  </a:solidFill>
                </a:rPr>
                <a:t>도구</a:t>
              </a:r>
              <a:endParaRPr lang="en-US" sz="1000" dirty="0"/>
            </a:p>
          </p:txBody>
        </p:sp>
        <p:sp>
          <p:nvSpPr>
            <p:cNvPr id="21" name="Shape 19"/>
            <p:cNvSpPr/>
            <p:nvPr/>
          </p:nvSpPr>
          <p:spPr>
            <a:xfrm>
              <a:off x="5806440" y="3218688"/>
              <a:ext cx="2011680" cy="438912"/>
            </a:xfrm>
            <a:prstGeom prst="rect">
              <a:avLst/>
            </a:prstGeom>
            <a:solidFill>
              <a:srgbClr val="1E2761"/>
            </a:solidFill>
            <a:ln w="12700">
              <a:solidFill>
                <a:srgbClr val="2A3060"/>
              </a:solidFill>
              <a:prstDash val="solid"/>
            </a:ln>
          </p:spPr>
        </p:sp>
        <p:sp>
          <p:nvSpPr>
            <p:cNvPr id="22" name="Text 20"/>
            <p:cNvSpPr/>
            <p:nvPr/>
          </p:nvSpPr>
          <p:spPr>
            <a:xfrm>
              <a:off x="5870448" y="3218688"/>
              <a:ext cx="1883664" cy="438912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000" b="1" dirty="0">
                  <a:solidFill>
                    <a:srgbClr val="FFFFFF"/>
                  </a:solidFill>
                </a:rPr>
                <a:t>Commands 위치</a:t>
              </a:r>
              <a:endParaRPr lang="en-US" sz="1000" dirty="0"/>
            </a:p>
          </p:txBody>
        </p:sp>
        <p:sp>
          <p:nvSpPr>
            <p:cNvPr id="23" name="Shape 21"/>
            <p:cNvSpPr/>
            <p:nvPr/>
          </p:nvSpPr>
          <p:spPr>
            <a:xfrm>
              <a:off x="7863840" y="3218688"/>
              <a:ext cx="914400" cy="438912"/>
            </a:xfrm>
            <a:prstGeom prst="rect">
              <a:avLst/>
            </a:prstGeom>
            <a:solidFill>
              <a:srgbClr val="1E2761"/>
            </a:solidFill>
            <a:ln w="12700">
              <a:solidFill>
                <a:srgbClr val="2A3060"/>
              </a:solidFill>
              <a:prstDash val="solid"/>
            </a:ln>
          </p:spPr>
        </p:sp>
        <p:sp>
          <p:nvSpPr>
            <p:cNvPr id="24" name="Text 22"/>
            <p:cNvSpPr/>
            <p:nvPr/>
          </p:nvSpPr>
          <p:spPr>
            <a:xfrm>
              <a:off x="7927848" y="3218688"/>
              <a:ext cx="786384" cy="438912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000" b="1" dirty="0">
                  <a:solidFill>
                    <a:srgbClr val="FFFFFF"/>
                  </a:solidFill>
                </a:rPr>
                <a:t>Skills 통합</a:t>
              </a:r>
              <a:endParaRPr lang="en-US" sz="1000" dirty="0"/>
            </a:p>
          </p:txBody>
        </p:sp>
        <p:sp>
          <p:nvSpPr>
            <p:cNvPr id="25" name="Shape 23"/>
            <p:cNvSpPr/>
            <p:nvPr/>
          </p:nvSpPr>
          <p:spPr>
            <a:xfrm>
              <a:off x="4480560" y="3657600"/>
              <a:ext cx="1280160" cy="438912"/>
            </a:xfrm>
            <a:prstGeom prst="rect">
              <a:avLst/>
            </a:prstGeom>
            <a:solidFill>
              <a:srgbClr val="1A2140"/>
            </a:solidFill>
            <a:ln w="12700">
              <a:solidFill>
                <a:srgbClr val="2A3060"/>
              </a:solidFill>
              <a:prstDash val="solid"/>
            </a:ln>
          </p:spPr>
        </p:sp>
        <p:sp>
          <p:nvSpPr>
            <p:cNvPr id="26" name="Text 24"/>
            <p:cNvSpPr/>
            <p:nvPr/>
          </p:nvSpPr>
          <p:spPr>
            <a:xfrm>
              <a:off x="4544568" y="3657600"/>
              <a:ext cx="1152144" cy="438912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050" dirty="0">
                  <a:solidFill>
                    <a:srgbClr val="C8DCFC"/>
                  </a:solidFill>
                </a:rPr>
                <a:t>Claude Code</a:t>
              </a:r>
              <a:endParaRPr lang="en-US" sz="1050" dirty="0"/>
            </a:p>
          </p:txBody>
        </p:sp>
        <p:sp>
          <p:nvSpPr>
            <p:cNvPr id="27" name="Shape 25"/>
            <p:cNvSpPr/>
            <p:nvPr/>
          </p:nvSpPr>
          <p:spPr>
            <a:xfrm>
              <a:off x="5806440" y="3657600"/>
              <a:ext cx="2011680" cy="438912"/>
            </a:xfrm>
            <a:prstGeom prst="rect">
              <a:avLst/>
            </a:prstGeom>
            <a:solidFill>
              <a:srgbClr val="1A2140"/>
            </a:solidFill>
            <a:ln w="12700">
              <a:solidFill>
                <a:srgbClr val="2A3060"/>
              </a:solidFill>
              <a:prstDash val="solid"/>
            </a:ln>
          </p:spPr>
        </p:sp>
        <p:sp>
          <p:nvSpPr>
            <p:cNvPr id="28" name="Text 26"/>
            <p:cNvSpPr/>
            <p:nvPr/>
          </p:nvSpPr>
          <p:spPr>
            <a:xfrm>
              <a:off x="5870448" y="3657600"/>
              <a:ext cx="1883664" cy="438912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050" dirty="0">
                  <a:solidFill>
                    <a:srgbClr val="C8DCFC"/>
                  </a:solidFill>
                </a:rPr>
                <a:t>.claude/skills/ (통합)</a:t>
              </a:r>
              <a:endParaRPr lang="en-US" sz="1050" dirty="0"/>
            </a:p>
          </p:txBody>
        </p:sp>
        <p:sp>
          <p:nvSpPr>
            <p:cNvPr id="29" name="Shape 27"/>
            <p:cNvSpPr/>
            <p:nvPr/>
          </p:nvSpPr>
          <p:spPr>
            <a:xfrm>
              <a:off x="7863840" y="3657600"/>
              <a:ext cx="914400" cy="438912"/>
            </a:xfrm>
            <a:prstGeom prst="rect">
              <a:avLst/>
            </a:prstGeom>
            <a:solidFill>
              <a:srgbClr val="1A2140"/>
            </a:solidFill>
            <a:ln w="12700">
              <a:solidFill>
                <a:srgbClr val="2A3060"/>
              </a:solidFill>
              <a:prstDash val="solid"/>
            </a:ln>
          </p:spPr>
        </p:sp>
        <p:sp>
          <p:nvSpPr>
            <p:cNvPr id="30" name="Text 28"/>
            <p:cNvSpPr/>
            <p:nvPr/>
          </p:nvSpPr>
          <p:spPr>
            <a:xfrm>
              <a:off x="7927848" y="3657600"/>
              <a:ext cx="786384" cy="438912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050" b="1" dirty="0">
                  <a:solidFill>
                    <a:srgbClr val="34D399"/>
                  </a:solidFill>
                </a:rPr>
                <a:t>✅ 자동</a:t>
              </a:r>
              <a:endParaRPr lang="en-US" sz="1050" dirty="0"/>
            </a:p>
          </p:txBody>
        </p:sp>
        <p:sp>
          <p:nvSpPr>
            <p:cNvPr id="31" name="Shape 29"/>
            <p:cNvSpPr/>
            <p:nvPr/>
          </p:nvSpPr>
          <p:spPr>
            <a:xfrm>
              <a:off x="4480560" y="4096512"/>
              <a:ext cx="1280160" cy="438912"/>
            </a:xfrm>
            <a:prstGeom prst="rect">
              <a:avLst/>
            </a:prstGeom>
            <a:solidFill>
              <a:srgbClr val="13162A"/>
            </a:solidFill>
            <a:ln w="12700">
              <a:solidFill>
                <a:srgbClr val="2A3060"/>
              </a:solidFill>
              <a:prstDash val="solid"/>
            </a:ln>
          </p:spPr>
        </p:sp>
        <p:sp>
          <p:nvSpPr>
            <p:cNvPr id="32" name="Text 30"/>
            <p:cNvSpPr/>
            <p:nvPr/>
          </p:nvSpPr>
          <p:spPr>
            <a:xfrm>
              <a:off x="4544568" y="4096512"/>
              <a:ext cx="1152144" cy="438912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050" dirty="0">
                  <a:solidFill>
                    <a:srgbClr val="C8DCFC"/>
                  </a:solidFill>
                </a:rPr>
                <a:t>Codex</a:t>
              </a:r>
              <a:endParaRPr lang="en-US" sz="1050" dirty="0"/>
            </a:p>
          </p:txBody>
        </p:sp>
        <p:sp>
          <p:nvSpPr>
            <p:cNvPr id="33" name="Shape 31"/>
            <p:cNvSpPr/>
            <p:nvPr/>
          </p:nvSpPr>
          <p:spPr>
            <a:xfrm>
              <a:off x="5806440" y="4096512"/>
              <a:ext cx="2011680" cy="438912"/>
            </a:xfrm>
            <a:prstGeom prst="rect">
              <a:avLst/>
            </a:prstGeom>
            <a:solidFill>
              <a:srgbClr val="13162A"/>
            </a:solidFill>
            <a:ln w="12700">
              <a:solidFill>
                <a:srgbClr val="2A3060"/>
              </a:solidFill>
              <a:prstDash val="solid"/>
            </a:ln>
          </p:spPr>
        </p:sp>
        <p:sp>
          <p:nvSpPr>
            <p:cNvPr id="34" name="Text 32"/>
            <p:cNvSpPr/>
            <p:nvPr/>
          </p:nvSpPr>
          <p:spPr>
            <a:xfrm>
              <a:off x="5870448" y="4096512"/>
              <a:ext cx="1883664" cy="438912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050" dirty="0">
                  <a:solidFill>
                    <a:srgbClr val="C8DCFC"/>
                  </a:solidFill>
                </a:rPr>
                <a:t>.agents/skills/ (통합)</a:t>
              </a:r>
              <a:endParaRPr lang="en-US" sz="1050" dirty="0"/>
            </a:p>
          </p:txBody>
        </p:sp>
        <p:sp>
          <p:nvSpPr>
            <p:cNvPr id="35" name="Shape 33"/>
            <p:cNvSpPr/>
            <p:nvPr/>
          </p:nvSpPr>
          <p:spPr>
            <a:xfrm>
              <a:off x="7863840" y="4096512"/>
              <a:ext cx="914400" cy="438912"/>
            </a:xfrm>
            <a:prstGeom prst="rect">
              <a:avLst/>
            </a:prstGeom>
            <a:solidFill>
              <a:srgbClr val="13162A"/>
            </a:solidFill>
            <a:ln w="12700">
              <a:solidFill>
                <a:srgbClr val="2A3060"/>
              </a:solidFill>
              <a:prstDash val="solid"/>
            </a:ln>
          </p:spPr>
        </p:sp>
        <p:sp>
          <p:nvSpPr>
            <p:cNvPr id="36" name="Text 34"/>
            <p:cNvSpPr/>
            <p:nvPr/>
          </p:nvSpPr>
          <p:spPr>
            <a:xfrm>
              <a:off x="7927848" y="4096512"/>
              <a:ext cx="786384" cy="438912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050" b="1" dirty="0">
                  <a:solidFill>
                    <a:srgbClr val="34D399"/>
                  </a:solidFill>
                </a:rPr>
                <a:t>✅ 자동</a:t>
              </a:r>
              <a:endParaRPr lang="en-US" sz="1050" dirty="0"/>
            </a:p>
          </p:txBody>
        </p:sp>
        <p:sp>
          <p:nvSpPr>
            <p:cNvPr id="37" name="Shape 35"/>
            <p:cNvSpPr/>
            <p:nvPr/>
          </p:nvSpPr>
          <p:spPr>
            <a:xfrm>
              <a:off x="4480560" y="4535424"/>
              <a:ext cx="1280160" cy="438912"/>
            </a:xfrm>
            <a:prstGeom prst="rect">
              <a:avLst/>
            </a:prstGeom>
            <a:solidFill>
              <a:srgbClr val="1A2140"/>
            </a:solidFill>
            <a:ln w="12700">
              <a:solidFill>
                <a:srgbClr val="2A3060"/>
              </a:solidFill>
              <a:prstDash val="solid"/>
            </a:ln>
          </p:spPr>
        </p:sp>
        <p:sp>
          <p:nvSpPr>
            <p:cNvPr id="38" name="Text 36"/>
            <p:cNvSpPr/>
            <p:nvPr/>
          </p:nvSpPr>
          <p:spPr>
            <a:xfrm>
              <a:off x="4544568" y="4535424"/>
              <a:ext cx="1152144" cy="438912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050" dirty="0">
                  <a:solidFill>
                    <a:srgbClr val="C8DCFC"/>
                  </a:solidFill>
                </a:rPr>
                <a:t>Gemini</a:t>
              </a:r>
              <a:endParaRPr lang="en-US" sz="1050" dirty="0"/>
            </a:p>
          </p:txBody>
        </p:sp>
        <p:sp>
          <p:nvSpPr>
            <p:cNvPr id="39" name="Shape 37"/>
            <p:cNvSpPr/>
            <p:nvPr/>
          </p:nvSpPr>
          <p:spPr>
            <a:xfrm>
              <a:off x="5806440" y="4535424"/>
              <a:ext cx="2011680" cy="438912"/>
            </a:xfrm>
            <a:prstGeom prst="rect">
              <a:avLst/>
            </a:prstGeom>
            <a:solidFill>
              <a:srgbClr val="1A2140"/>
            </a:solidFill>
            <a:ln w="12700">
              <a:solidFill>
                <a:srgbClr val="2A3060"/>
              </a:solidFill>
              <a:prstDash val="solid"/>
            </a:ln>
          </p:spPr>
        </p:sp>
        <p:sp>
          <p:nvSpPr>
            <p:cNvPr id="40" name="Text 38"/>
            <p:cNvSpPr/>
            <p:nvPr/>
          </p:nvSpPr>
          <p:spPr>
            <a:xfrm>
              <a:off x="5870448" y="4535424"/>
              <a:ext cx="1883664" cy="438912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050" dirty="0">
                  <a:solidFill>
                    <a:srgbClr val="C8DCFC"/>
                  </a:solidFill>
                </a:rPr>
                <a:t>.gemini/commands/*.toml</a:t>
              </a:r>
              <a:endParaRPr lang="en-US" sz="1050" dirty="0"/>
            </a:p>
          </p:txBody>
        </p:sp>
        <p:sp>
          <p:nvSpPr>
            <p:cNvPr id="41" name="Shape 39"/>
            <p:cNvSpPr/>
            <p:nvPr/>
          </p:nvSpPr>
          <p:spPr>
            <a:xfrm>
              <a:off x="7863840" y="4535424"/>
              <a:ext cx="914400" cy="438912"/>
            </a:xfrm>
            <a:prstGeom prst="rect">
              <a:avLst/>
            </a:prstGeom>
            <a:solidFill>
              <a:srgbClr val="1A2140"/>
            </a:solidFill>
            <a:ln w="12700">
              <a:solidFill>
                <a:srgbClr val="2A3060"/>
              </a:solidFill>
              <a:prstDash val="solid"/>
            </a:ln>
          </p:spPr>
        </p:sp>
        <p:sp>
          <p:nvSpPr>
            <p:cNvPr id="42" name="Text 40"/>
            <p:cNvSpPr/>
            <p:nvPr/>
          </p:nvSpPr>
          <p:spPr>
            <a:xfrm>
              <a:off x="7927848" y="4535424"/>
              <a:ext cx="786384" cy="438912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700" b="1" dirty="0">
                  <a:solidFill>
                    <a:srgbClr val="F87171"/>
                  </a:solidFill>
                </a:rPr>
                <a:t>❌ 별도 작성</a:t>
              </a:r>
              <a:endParaRPr lang="en-US" sz="700" dirty="0"/>
            </a:p>
          </p:txBody>
        </p:sp>
        <p:sp>
          <p:nvSpPr>
            <p:cNvPr id="43" name="Shape 41"/>
            <p:cNvSpPr/>
            <p:nvPr/>
          </p:nvSpPr>
          <p:spPr>
            <a:xfrm>
              <a:off x="4480560" y="4974336"/>
              <a:ext cx="1280160" cy="438912"/>
            </a:xfrm>
            <a:prstGeom prst="rect">
              <a:avLst/>
            </a:prstGeom>
            <a:solidFill>
              <a:srgbClr val="13162A"/>
            </a:solidFill>
            <a:ln w="12700">
              <a:solidFill>
                <a:srgbClr val="2A3060"/>
              </a:solidFill>
              <a:prstDash val="solid"/>
            </a:ln>
          </p:spPr>
        </p:sp>
        <p:sp>
          <p:nvSpPr>
            <p:cNvPr id="44" name="Text 42"/>
            <p:cNvSpPr/>
            <p:nvPr/>
          </p:nvSpPr>
          <p:spPr>
            <a:xfrm>
              <a:off x="4544568" y="4974336"/>
              <a:ext cx="1152144" cy="438912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050" dirty="0">
                  <a:solidFill>
                    <a:srgbClr val="C8DCFC"/>
                  </a:solidFill>
                </a:rPr>
                <a:t>Antigravity</a:t>
              </a:r>
              <a:endParaRPr lang="en-US" sz="1050" dirty="0"/>
            </a:p>
          </p:txBody>
        </p:sp>
        <p:sp>
          <p:nvSpPr>
            <p:cNvPr id="45" name="Shape 43"/>
            <p:cNvSpPr/>
            <p:nvPr/>
          </p:nvSpPr>
          <p:spPr>
            <a:xfrm>
              <a:off x="5806440" y="4974336"/>
              <a:ext cx="2011680" cy="438912"/>
            </a:xfrm>
            <a:prstGeom prst="rect">
              <a:avLst/>
            </a:prstGeom>
            <a:solidFill>
              <a:srgbClr val="13162A"/>
            </a:solidFill>
            <a:ln w="12700">
              <a:solidFill>
                <a:srgbClr val="2A3060"/>
              </a:solidFill>
              <a:prstDash val="solid"/>
            </a:ln>
          </p:spPr>
        </p:sp>
        <p:sp>
          <p:nvSpPr>
            <p:cNvPr id="46" name="Text 44"/>
            <p:cNvSpPr/>
            <p:nvPr/>
          </p:nvSpPr>
          <p:spPr>
            <a:xfrm>
              <a:off x="5870448" y="4974336"/>
              <a:ext cx="1883664" cy="438912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algn="ctr"/>
              <a:r>
                <a:rPr lang="en-US" sz="1050" strike="sngStrike" dirty="0">
                  <a:solidFill>
                    <a:srgbClr val="C8DCFC"/>
                  </a:solidFill>
                </a:rPr>
                <a:t>.agent/workflows/*.md</a:t>
              </a:r>
              <a:br>
                <a:rPr lang="en-US" sz="1050" strike="sngStrike" dirty="0">
                  <a:solidFill>
                    <a:srgbClr val="C8DCFC"/>
                  </a:solidFill>
                </a:rPr>
              </a:br>
              <a:r>
                <a:rPr lang="en-US" altLang="ko-KR" sz="1050" dirty="0">
                  <a:solidFill>
                    <a:srgbClr val="C8DCFC"/>
                  </a:solidFill>
                </a:rPr>
                <a:t>.agents/skills/ (</a:t>
              </a:r>
              <a:r>
                <a:rPr lang="en-US" altLang="ko-KR" sz="1050" dirty="0" err="1">
                  <a:solidFill>
                    <a:srgbClr val="C8DCFC"/>
                  </a:solidFill>
                </a:rPr>
                <a:t>통합</a:t>
              </a:r>
              <a:r>
                <a:rPr lang="en-US" altLang="ko-KR" sz="1050" dirty="0">
                  <a:solidFill>
                    <a:srgbClr val="C8DCFC"/>
                  </a:solidFill>
                </a:rPr>
                <a:t>)</a:t>
              </a:r>
              <a:endParaRPr lang="en-US" altLang="ko-KR" sz="1050" dirty="0"/>
            </a:p>
          </p:txBody>
        </p:sp>
        <p:sp>
          <p:nvSpPr>
            <p:cNvPr id="47" name="Shape 45"/>
            <p:cNvSpPr/>
            <p:nvPr/>
          </p:nvSpPr>
          <p:spPr>
            <a:xfrm>
              <a:off x="7863840" y="4974336"/>
              <a:ext cx="914400" cy="438912"/>
            </a:xfrm>
            <a:prstGeom prst="rect">
              <a:avLst/>
            </a:prstGeom>
            <a:solidFill>
              <a:srgbClr val="13162A"/>
            </a:solidFill>
            <a:ln w="12700">
              <a:solidFill>
                <a:srgbClr val="2A3060"/>
              </a:solidFill>
              <a:prstDash val="solid"/>
            </a:ln>
          </p:spPr>
        </p:sp>
        <p:sp>
          <p:nvSpPr>
            <p:cNvPr id="48" name="Text 46"/>
            <p:cNvSpPr/>
            <p:nvPr/>
          </p:nvSpPr>
          <p:spPr>
            <a:xfrm>
              <a:off x="7927848" y="4974336"/>
              <a:ext cx="786384" cy="438912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700" b="1" strike="sngStrike" dirty="0">
                  <a:solidFill>
                    <a:srgbClr val="FBBF24"/>
                  </a:solidFill>
                </a:rPr>
                <a:t>⚠️ Skills 복붙</a:t>
              </a:r>
              <a:endParaRPr lang="en-US" sz="700" strike="sngStrike" dirty="0"/>
            </a:p>
          </p:txBody>
        </p:sp>
      </p:grp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7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82880"/>
            <a:ext cx="8412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276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Hooks — 이벤트 기반 자동 실행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822960"/>
            <a:ext cx="8412480" cy="658368"/>
          </a:xfrm>
          <a:prstGeom prst="rect">
            <a:avLst/>
          </a:prstGeom>
          <a:solidFill>
            <a:srgbClr val="1E2761"/>
          </a:solidFill>
          <a:ln w="25400">
            <a:solidFill>
              <a:srgbClr val="A78BF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822960"/>
            <a:ext cx="8229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 핵심: </a:t>
            </a: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Hooks는 독립 </a:t>
            </a:r>
            <a:r>
              <a:rPr lang="en-US" sz="12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기능이</a:t>
            </a: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아</a:t>
            </a:r>
            <a:r>
              <a:rPr lang="ko-KR" altLang="en-US" sz="12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니다</a:t>
            </a: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</a:t>
            </a:r>
            <a:r>
              <a:rPr lang="ko-KR" altLang="en-US" sz="1200" b="1" dirty="0">
                <a:solidFill>
                  <a:srgbClr val="C8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특정 </a:t>
            </a:r>
            <a:r>
              <a:rPr lang="en-US" sz="1200" dirty="0" err="1">
                <a:solidFill>
                  <a:srgbClr val="C8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트리거</a:t>
            </a:r>
            <a:r>
              <a:rPr lang="en-US" sz="1200" dirty="0">
                <a:solidFill>
                  <a:srgbClr val="C8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(Git Hook, IDE Event)로 AI Skills를 강제 호출하는 실행 패턴.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C8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             </a:t>
            </a:r>
            <a:r>
              <a:rPr lang="en-US" sz="1200" dirty="0" err="1">
                <a:solidFill>
                  <a:srgbClr val="C8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자동</a:t>
            </a:r>
            <a:r>
              <a:rPr lang="en-US" sz="1200" dirty="0">
                <a:solidFill>
                  <a:srgbClr val="C8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실행을 </a:t>
            </a:r>
            <a:r>
              <a:rPr lang="en-US" sz="1200" dirty="0" err="1">
                <a:solidFill>
                  <a:srgbClr val="C8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원하면</a:t>
            </a:r>
            <a:r>
              <a:rPr lang="en-US" sz="1200" dirty="0">
                <a:solidFill>
                  <a:srgbClr val="C8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b="1" dirty="0" err="1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별도</a:t>
            </a:r>
            <a:r>
              <a:rPr lang="en-US" sz="120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스크립트 작성이 반드시 필요합니다.</a:t>
            </a:r>
            <a:endParaRPr lang="en-US" sz="1200" dirty="0"/>
          </a:p>
        </p:txBody>
      </p:sp>
      <p:grpSp>
        <p:nvGrpSpPr>
          <p:cNvPr id="41" name="그룹 40">
            <a:extLst>
              <a:ext uri="{FF2B5EF4-FFF2-40B4-BE49-F238E27FC236}">
                <a16:creationId xmlns:a16="http://schemas.microsoft.com/office/drawing/2014/main" id="{71F14715-E0CE-4F69-B03B-7220D72ACE50}"/>
              </a:ext>
            </a:extLst>
          </p:cNvPr>
          <p:cNvGrpSpPr/>
          <p:nvPr/>
        </p:nvGrpSpPr>
        <p:grpSpPr>
          <a:xfrm>
            <a:off x="365760" y="1627632"/>
            <a:ext cx="2743200" cy="1353312"/>
            <a:chOff x="365760" y="1627632"/>
            <a:chExt cx="2743200" cy="1353312"/>
          </a:xfrm>
        </p:grpSpPr>
        <p:sp>
          <p:nvSpPr>
            <p:cNvPr id="6" name="Shape 4"/>
            <p:cNvSpPr/>
            <p:nvPr/>
          </p:nvSpPr>
          <p:spPr>
            <a:xfrm>
              <a:off x="365760" y="1627632"/>
              <a:ext cx="2743200" cy="1353312"/>
            </a:xfrm>
            <a:prstGeom prst="rect">
              <a:avLst/>
            </a:prstGeom>
            <a:solidFill>
              <a:srgbClr val="FFFFFF"/>
            </a:solidFill>
            <a:ln w="25400">
              <a:solidFill>
                <a:srgbClr val="34D399"/>
              </a:solidFill>
              <a:prstDash val="solid"/>
            </a:ln>
            <a:effectLst>
              <a:outerShdw blurRad="101600" dist="25400" dir="8100000" algn="bl" rotWithShape="0">
                <a:srgbClr val="000000">
                  <a:alpha val="15000"/>
                </a:srgbClr>
              </a:outerShdw>
            </a:effectLst>
          </p:spPr>
        </p:sp>
        <p:sp>
          <p:nvSpPr>
            <p:cNvPr id="7" name="Shape 5"/>
            <p:cNvSpPr/>
            <p:nvPr/>
          </p:nvSpPr>
          <p:spPr>
            <a:xfrm>
              <a:off x="365760" y="1627632"/>
              <a:ext cx="2743200" cy="54864"/>
            </a:xfrm>
            <a:prstGeom prst="rect">
              <a:avLst/>
            </a:prstGeom>
            <a:solidFill>
              <a:srgbClr val="34D399"/>
            </a:solidFill>
            <a:ln w="12700">
              <a:solidFill>
                <a:srgbClr val="34D399"/>
              </a:solidFill>
              <a:prstDash val="solid"/>
            </a:ln>
          </p:spPr>
        </p:sp>
        <p:sp>
          <p:nvSpPr>
            <p:cNvPr id="8" name="Text 6"/>
            <p:cNvSpPr/>
            <p:nvPr/>
          </p:nvSpPr>
          <p:spPr>
            <a:xfrm>
              <a:off x="365760" y="1700784"/>
              <a:ext cx="2743200" cy="384048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2200" dirty="0">
                  <a:solidFill>
                    <a:srgbClr val="000000"/>
                  </a:solidFill>
                </a:rPr>
                <a:t>💾</a:t>
              </a:r>
              <a:endParaRPr lang="en-US" sz="2200" dirty="0"/>
            </a:p>
          </p:txBody>
        </p:sp>
        <p:sp>
          <p:nvSpPr>
            <p:cNvPr id="9" name="Text 7"/>
            <p:cNvSpPr/>
            <p:nvPr/>
          </p:nvSpPr>
          <p:spPr>
            <a:xfrm>
              <a:off x="457200" y="2103120"/>
              <a:ext cx="2560320" cy="32004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600" b="1" dirty="0">
                  <a:solidFill>
                    <a:srgbClr val="34D399"/>
                  </a:solidFill>
                  <a:latin typeface="Arial Black" pitchFamily="34" charset="0"/>
                  <a:ea typeface="Arial Black" pitchFamily="34" charset="-122"/>
                  <a:cs typeface="Arial Black" pitchFamily="34" charset="-120"/>
                </a:rPr>
                <a:t>On-save</a:t>
              </a:r>
              <a:endParaRPr lang="en-US" sz="1600" dirty="0"/>
            </a:p>
          </p:txBody>
        </p:sp>
        <p:sp>
          <p:nvSpPr>
            <p:cNvPr id="10" name="Text 8"/>
            <p:cNvSpPr/>
            <p:nvPr/>
          </p:nvSpPr>
          <p:spPr>
            <a:xfrm>
              <a:off x="457200" y="2441448"/>
              <a:ext cx="2560320" cy="256032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200" dirty="0">
                  <a:solidFill>
                    <a:srgbClr val="8899BB"/>
                  </a:solidFill>
                </a:rPr>
                <a:t>파일 저장 시</a:t>
              </a:r>
              <a:endParaRPr lang="en-US" sz="1200" dirty="0"/>
            </a:p>
          </p:txBody>
        </p:sp>
        <p:sp>
          <p:nvSpPr>
            <p:cNvPr id="11" name="Text 9"/>
            <p:cNvSpPr/>
            <p:nvPr/>
          </p:nvSpPr>
          <p:spPr>
            <a:xfrm>
              <a:off x="457200" y="2715768"/>
              <a:ext cx="2560320" cy="22860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300" b="1" dirty="0">
                  <a:solidFill>
                    <a:srgbClr val="1E2761"/>
                  </a:solidFill>
                </a:rPr>
                <a:t>자동 포맷팅·린팅</a:t>
              </a:r>
              <a:endParaRPr lang="en-US" sz="1300" dirty="0"/>
            </a:p>
          </p:txBody>
        </p:sp>
      </p:grpSp>
      <p:grpSp>
        <p:nvGrpSpPr>
          <p:cNvPr id="40" name="그룹 39">
            <a:extLst>
              <a:ext uri="{FF2B5EF4-FFF2-40B4-BE49-F238E27FC236}">
                <a16:creationId xmlns:a16="http://schemas.microsoft.com/office/drawing/2014/main" id="{D0C61F7A-4870-4E86-9773-25E5478F7B86}"/>
              </a:ext>
            </a:extLst>
          </p:cNvPr>
          <p:cNvGrpSpPr/>
          <p:nvPr/>
        </p:nvGrpSpPr>
        <p:grpSpPr>
          <a:xfrm>
            <a:off x="3208020" y="1627632"/>
            <a:ext cx="2743200" cy="1353312"/>
            <a:chOff x="3291840" y="1627632"/>
            <a:chExt cx="2743200" cy="1353312"/>
          </a:xfrm>
        </p:grpSpPr>
        <p:sp>
          <p:nvSpPr>
            <p:cNvPr id="12" name="Shape 10"/>
            <p:cNvSpPr/>
            <p:nvPr/>
          </p:nvSpPr>
          <p:spPr>
            <a:xfrm>
              <a:off x="3291840" y="1627632"/>
              <a:ext cx="2743200" cy="1353312"/>
            </a:xfrm>
            <a:prstGeom prst="rect">
              <a:avLst/>
            </a:prstGeom>
            <a:solidFill>
              <a:srgbClr val="FFFFFF"/>
            </a:solidFill>
            <a:ln w="25400">
              <a:solidFill>
                <a:srgbClr val="FBBF24"/>
              </a:solidFill>
              <a:prstDash val="solid"/>
            </a:ln>
            <a:effectLst>
              <a:outerShdw blurRad="101600" dist="25400" dir="8100000" algn="bl" rotWithShape="0">
                <a:srgbClr val="000000">
                  <a:alpha val="15000"/>
                </a:srgbClr>
              </a:outerShdw>
            </a:effectLst>
          </p:spPr>
        </p:sp>
        <p:sp>
          <p:nvSpPr>
            <p:cNvPr id="13" name="Shape 11"/>
            <p:cNvSpPr/>
            <p:nvPr/>
          </p:nvSpPr>
          <p:spPr>
            <a:xfrm>
              <a:off x="3291840" y="1627632"/>
              <a:ext cx="2743200" cy="54864"/>
            </a:xfrm>
            <a:prstGeom prst="rect">
              <a:avLst/>
            </a:prstGeom>
            <a:solidFill>
              <a:srgbClr val="FBBF24"/>
            </a:solidFill>
            <a:ln w="12700">
              <a:solidFill>
                <a:srgbClr val="FBBF24"/>
              </a:solidFill>
              <a:prstDash val="solid"/>
            </a:ln>
          </p:spPr>
        </p:sp>
        <p:sp>
          <p:nvSpPr>
            <p:cNvPr id="14" name="Text 12"/>
            <p:cNvSpPr/>
            <p:nvPr/>
          </p:nvSpPr>
          <p:spPr>
            <a:xfrm>
              <a:off x="3291840" y="1700784"/>
              <a:ext cx="2743200" cy="384048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2200" dirty="0">
                  <a:solidFill>
                    <a:srgbClr val="000000"/>
                  </a:solidFill>
                </a:rPr>
                <a:t>📦</a:t>
              </a:r>
              <a:endParaRPr lang="en-US" sz="2200" dirty="0"/>
            </a:p>
          </p:txBody>
        </p:sp>
        <p:sp>
          <p:nvSpPr>
            <p:cNvPr id="15" name="Text 13"/>
            <p:cNvSpPr/>
            <p:nvPr/>
          </p:nvSpPr>
          <p:spPr>
            <a:xfrm>
              <a:off x="3383280" y="2103120"/>
              <a:ext cx="2560320" cy="32004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600" b="1" dirty="0">
                  <a:solidFill>
                    <a:srgbClr val="FBBF24"/>
                  </a:solidFill>
                  <a:latin typeface="Arial Black" pitchFamily="34" charset="0"/>
                  <a:ea typeface="Arial Black" pitchFamily="34" charset="-122"/>
                  <a:cs typeface="Arial Black" pitchFamily="34" charset="-120"/>
                </a:rPr>
                <a:t>Pre-commit</a:t>
              </a:r>
              <a:endParaRPr lang="en-US" sz="1600" dirty="0"/>
            </a:p>
          </p:txBody>
        </p:sp>
        <p:sp>
          <p:nvSpPr>
            <p:cNvPr id="16" name="Text 14"/>
            <p:cNvSpPr/>
            <p:nvPr/>
          </p:nvSpPr>
          <p:spPr>
            <a:xfrm>
              <a:off x="3383280" y="2441448"/>
              <a:ext cx="2560320" cy="256032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200" dirty="0">
                  <a:solidFill>
                    <a:srgbClr val="8899BB"/>
                  </a:solidFill>
                </a:rPr>
                <a:t>커밋 직전</a:t>
              </a:r>
              <a:endParaRPr lang="en-US" sz="1200" dirty="0"/>
            </a:p>
          </p:txBody>
        </p:sp>
        <p:sp>
          <p:nvSpPr>
            <p:cNvPr id="17" name="Text 15"/>
            <p:cNvSpPr/>
            <p:nvPr/>
          </p:nvSpPr>
          <p:spPr>
            <a:xfrm>
              <a:off x="3383280" y="2715768"/>
              <a:ext cx="2560320" cy="22860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300" b="1" dirty="0">
                  <a:solidFill>
                    <a:srgbClr val="1E2761"/>
                  </a:solidFill>
                </a:rPr>
                <a:t>코드 스타일 검사</a:t>
              </a:r>
              <a:endParaRPr lang="en-US" sz="1300" dirty="0"/>
            </a:p>
          </p:txBody>
        </p:sp>
      </p:grpSp>
      <p:grpSp>
        <p:nvGrpSpPr>
          <p:cNvPr id="39" name="그룹 38">
            <a:extLst>
              <a:ext uri="{FF2B5EF4-FFF2-40B4-BE49-F238E27FC236}">
                <a16:creationId xmlns:a16="http://schemas.microsoft.com/office/drawing/2014/main" id="{36192EDA-EF19-4D89-883D-984130E42D18}"/>
              </a:ext>
            </a:extLst>
          </p:cNvPr>
          <p:cNvGrpSpPr/>
          <p:nvPr/>
        </p:nvGrpSpPr>
        <p:grpSpPr>
          <a:xfrm>
            <a:off x="6035040" y="1627632"/>
            <a:ext cx="2743200" cy="1353312"/>
            <a:chOff x="6217920" y="1627632"/>
            <a:chExt cx="2743200" cy="1353312"/>
          </a:xfrm>
        </p:grpSpPr>
        <p:sp>
          <p:nvSpPr>
            <p:cNvPr id="18" name="Shape 16"/>
            <p:cNvSpPr/>
            <p:nvPr/>
          </p:nvSpPr>
          <p:spPr>
            <a:xfrm>
              <a:off x="6217920" y="1627632"/>
              <a:ext cx="2743200" cy="1353312"/>
            </a:xfrm>
            <a:prstGeom prst="rect">
              <a:avLst/>
            </a:prstGeom>
            <a:solidFill>
              <a:srgbClr val="FFFFFF"/>
            </a:solidFill>
            <a:ln w="25400">
              <a:solidFill>
                <a:srgbClr val="A78BFA"/>
              </a:solidFill>
              <a:prstDash val="solid"/>
            </a:ln>
            <a:effectLst>
              <a:outerShdw blurRad="101600" dist="25400" dir="8100000" algn="bl" rotWithShape="0">
                <a:srgbClr val="000000">
                  <a:alpha val="15000"/>
                </a:srgbClr>
              </a:outerShdw>
            </a:effectLst>
          </p:spPr>
        </p:sp>
        <p:sp>
          <p:nvSpPr>
            <p:cNvPr id="19" name="Shape 17"/>
            <p:cNvSpPr/>
            <p:nvPr/>
          </p:nvSpPr>
          <p:spPr>
            <a:xfrm>
              <a:off x="6217920" y="1627632"/>
              <a:ext cx="2743200" cy="54864"/>
            </a:xfrm>
            <a:prstGeom prst="rect">
              <a:avLst/>
            </a:prstGeom>
            <a:solidFill>
              <a:srgbClr val="A78BFA"/>
            </a:solidFill>
            <a:ln w="12700">
              <a:solidFill>
                <a:srgbClr val="A78BFA"/>
              </a:solidFill>
              <a:prstDash val="solid"/>
            </a:ln>
          </p:spPr>
        </p:sp>
        <p:sp>
          <p:nvSpPr>
            <p:cNvPr id="20" name="Text 18"/>
            <p:cNvSpPr/>
            <p:nvPr/>
          </p:nvSpPr>
          <p:spPr>
            <a:xfrm>
              <a:off x="6217920" y="1700784"/>
              <a:ext cx="2743200" cy="384048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2200" dirty="0">
                  <a:solidFill>
                    <a:srgbClr val="000000"/>
                  </a:solidFill>
                </a:rPr>
                <a:t>🔀</a:t>
              </a:r>
              <a:endParaRPr lang="en-US" sz="2200" dirty="0"/>
            </a:p>
          </p:txBody>
        </p:sp>
        <p:sp>
          <p:nvSpPr>
            <p:cNvPr id="21" name="Text 19"/>
            <p:cNvSpPr/>
            <p:nvPr/>
          </p:nvSpPr>
          <p:spPr>
            <a:xfrm>
              <a:off x="6309360" y="2103120"/>
              <a:ext cx="2560320" cy="32004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600" b="1" dirty="0">
                  <a:solidFill>
                    <a:srgbClr val="A78BFA"/>
                  </a:solidFill>
                  <a:latin typeface="Arial Black" pitchFamily="34" charset="0"/>
                  <a:ea typeface="Arial Black" pitchFamily="34" charset="-122"/>
                  <a:cs typeface="Arial Black" pitchFamily="34" charset="-120"/>
                </a:rPr>
                <a:t>Post-merge</a:t>
              </a:r>
              <a:endParaRPr lang="en-US" sz="1600" dirty="0"/>
            </a:p>
          </p:txBody>
        </p:sp>
        <p:sp>
          <p:nvSpPr>
            <p:cNvPr id="22" name="Text 20"/>
            <p:cNvSpPr/>
            <p:nvPr/>
          </p:nvSpPr>
          <p:spPr>
            <a:xfrm>
              <a:off x="6309360" y="2441448"/>
              <a:ext cx="2560320" cy="256032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200" dirty="0">
                  <a:solidFill>
                    <a:srgbClr val="8899BB"/>
                  </a:solidFill>
                </a:rPr>
                <a:t>병합 완료 후</a:t>
              </a:r>
              <a:endParaRPr lang="en-US" sz="1200" dirty="0"/>
            </a:p>
          </p:txBody>
        </p:sp>
        <p:sp>
          <p:nvSpPr>
            <p:cNvPr id="23" name="Text 21"/>
            <p:cNvSpPr/>
            <p:nvPr/>
          </p:nvSpPr>
          <p:spPr>
            <a:xfrm>
              <a:off x="6309360" y="2715768"/>
              <a:ext cx="2560320" cy="22860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300" b="1" dirty="0">
                  <a:solidFill>
                    <a:srgbClr val="1E2761"/>
                  </a:solidFill>
                </a:rPr>
                <a:t>의존성 충돌 검사</a:t>
              </a:r>
              <a:endParaRPr lang="en-US" sz="1300" dirty="0"/>
            </a:p>
          </p:txBody>
        </p:sp>
      </p:grpSp>
      <p:sp>
        <p:nvSpPr>
          <p:cNvPr id="24" name="Shape 22"/>
          <p:cNvSpPr/>
          <p:nvPr/>
        </p:nvSpPr>
        <p:spPr>
          <a:xfrm>
            <a:off x="365760" y="3127248"/>
            <a:ext cx="3931920" cy="1920240"/>
          </a:xfrm>
          <a:prstGeom prst="rect">
            <a:avLst/>
          </a:prstGeom>
          <a:solidFill>
            <a:srgbClr val="0D1117"/>
          </a:solidFill>
          <a:ln w="19050">
            <a:solidFill>
              <a:srgbClr val="A78BF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02920" y="3182112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A78BFA"/>
                </a:solidFill>
              </a:rPr>
              <a:t>📝  구현 예시 (별도 스크립트 직접 작성)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502920" y="3493008"/>
            <a:ext cx="36576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#!/bin/bash
</a:t>
            </a:r>
            <a:r>
              <a:rPr lang="en-US" sz="1100" dirty="0">
                <a:solidFill>
                  <a:srgbClr val="8899B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.git/hooks/pre-commit
</a:t>
            </a: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claude run </a:t>
            </a:r>
            <a:r>
              <a:rPr lang="en-US" sz="1100" dirty="0">
                <a:solidFill>
                  <a:srgbClr val="4FC3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.claude/skills/pre-commit-check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502920" y="4407408"/>
            <a:ext cx="3657600" cy="594360"/>
          </a:xfrm>
          <a:prstGeom prst="rect">
            <a:avLst/>
          </a:prstGeom>
          <a:solidFill>
            <a:srgbClr val="FFF3CD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94360" y="4425696"/>
            <a:ext cx="3474720" cy="5577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B4F00"/>
                </a:solidFill>
              </a:rPr>
              <a:t>⚠️  모든 AI 도구가 자동 Hooks를 제공하지는 않음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7B4F00"/>
                </a:solidFill>
              </a:rPr>
              <a:t>.claude/hooks/ 디렉토리는 실행할 Skills를 정리한 것일 뿐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4480560" y="3127248"/>
            <a:ext cx="4297680" cy="1920240"/>
          </a:xfrm>
          <a:prstGeom prst="rect">
            <a:avLst/>
          </a:prstGeom>
          <a:solidFill>
            <a:srgbClr val="FFFFFF"/>
          </a:solidFill>
          <a:ln w="19050">
            <a:solidFill>
              <a:srgbClr val="A78BF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617720" y="3182112"/>
            <a:ext cx="4023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A78BF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Skills ↔ Hooks 관계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4663440" y="3547872"/>
            <a:ext cx="3931920" cy="438912"/>
          </a:xfrm>
          <a:prstGeom prst="rect">
            <a:avLst/>
          </a:prstGeom>
          <a:solidFill>
            <a:srgbClr val="4FC3F7">
              <a:alpha val="15000"/>
            </a:srgbClr>
          </a:solidFill>
          <a:ln w="19050">
            <a:solidFill>
              <a:srgbClr val="4FC3F7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754880" y="3547872"/>
            <a:ext cx="37490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4FC3F7"/>
                </a:solidFill>
              </a:rPr>
              <a:t>Skills  </a:t>
            </a:r>
            <a:r>
              <a:rPr lang="en-US" sz="1200" dirty="0">
                <a:solidFill>
                  <a:srgbClr val="1E2761"/>
                </a:solidFill>
              </a:rPr>
              <a:t>지식 정의 (SKILL.md)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4663440" y="4005072"/>
            <a:ext cx="3931920" cy="548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8899BB"/>
                </a:solidFill>
              </a:rPr>
              <a:t>↓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4663440" y="4059936"/>
            <a:ext cx="3931920" cy="438912"/>
          </a:xfrm>
          <a:prstGeom prst="rect">
            <a:avLst/>
          </a:prstGeom>
          <a:solidFill>
            <a:srgbClr val="A78BFA">
              <a:alpha val="15000"/>
            </a:srgbClr>
          </a:solidFill>
          <a:ln w="19050">
            <a:solidFill>
              <a:srgbClr val="A78BFA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754880" y="4059936"/>
            <a:ext cx="37490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A78BFA"/>
                </a:solidFill>
              </a:rPr>
              <a:t>Hooks  </a:t>
            </a:r>
            <a:r>
              <a:rPr lang="en-US" sz="1200" dirty="0">
                <a:solidFill>
                  <a:srgbClr val="1E2761"/>
                </a:solidFill>
              </a:rPr>
              <a:t>특정 시점 실행용으로 구조화된 Skills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4663440" y="4517136"/>
            <a:ext cx="3931920" cy="548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8899BB"/>
                </a:solidFill>
              </a:rPr>
              <a:t>↓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4663440" y="4572000"/>
            <a:ext cx="3931920" cy="438912"/>
          </a:xfrm>
          <a:prstGeom prst="rect">
            <a:avLst/>
          </a:prstGeom>
          <a:solidFill>
            <a:srgbClr val="FBBF24">
              <a:alpha val="15000"/>
            </a:srgbClr>
          </a:solidFill>
          <a:ln w="19050">
            <a:solidFill>
              <a:srgbClr val="FBBF24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754880" y="4572000"/>
            <a:ext cx="37490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BBF24"/>
                </a:solidFill>
              </a:rPr>
              <a:t>자동 실행  </a:t>
            </a:r>
            <a:r>
              <a:rPr lang="en-US" sz="1200" dirty="0">
                <a:solidFill>
                  <a:srgbClr val="1E2761"/>
                </a:solidFill>
              </a:rPr>
              <a:t>별도 스크립트로 구현 필수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A1F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F472B6"/>
          </a:solidFill>
          <a:ln w="12700">
            <a:solidFill>
              <a:srgbClr val="F472B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MCP &amp; Plugin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694944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8899BB"/>
                </a:solidFill>
              </a:rPr>
              <a:t>AI 모델 ↔ 외부 시스템 간 표준화된 인터페이스 프로토콜 + 확장 패키지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65760" y="1078992"/>
            <a:ext cx="4114800" cy="3931920"/>
          </a:xfrm>
          <a:prstGeom prst="rect">
            <a:avLst/>
          </a:prstGeom>
          <a:solidFill>
            <a:srgbClr val="252D4D"/>
          </a:solidFill>
          <a:ln w="25400">
            <a:solidFill>
              <a:srgbClr val="F472B6"/>
            </a:solidFill>
            <a:prstDash val="solid"/>
          </a:ln>
          <a:effectLst>
            <a:outerShdw blurRad="101600" dist="254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078992"/>
            <a:ext cx="4114800" cy="64008"/>
          </a:xfrm>
          <a:prstGeom prst="rect">
            <a:avLst/>
          </a:prstGeom>
          <a:solidFill>
            <a:srgbClr val="F472B6"/>
          </a:solidFill>
          <a:ln w="12700">
            <a:solidFill>
              <a:srgbClr val="F472B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1170432"/>
            <a:ext cx="3840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472B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🔌  MCP (Model Context Protocol)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02920" y="1627632"/>
            <a:ext cx="3840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C8DCFC"/>
                </a:solidFill>
              </a:rPr>
              <a:t>Anthropic 발표. HTTP가 웹을, SMTP가 이메일을 표준화했듯</a:t>
            </a:r>
            <a:endParaRPr lang="en-US" sz="1050" dirty="0"/>
          </a:p>
          <a:p>
            <a:pPr marL="0" indent="0">
              <a:buNone/>
            </a:pPr>
            <a:r>
              <a:rPr lang="en-US" sz="1050" i="1" dirty="0">
                <a:solidFill>
                  <a:srgbClr val="C8DCFC"/>
                </a:solidFill>
              </a:rPr>
              <a:t>AI ↔ 외부 시스템 간 통신을 표준화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502920" y="2025904"/>
            <a:ext cx="384048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로컬 파일 시스템 직접 조회·조작</a:t>
            </a:r>
            <a:endParaRPr lang="en-US" sz="12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Drive, GitHub 연동</a:t>
            </a:r>
            <a:endParaRPr lang="en-US" sz="12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Slack, Postgres DB 등 실시간 연결</a:t>
            </a:r>
            <a:endParaRPr lang="en-US" sz="12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VSCode Extension으로 직관적 관리 가능</a:t>
            </a:r>
            <a:endParaRPr lang="en-US" sz="1200" dirty="0"/>
          </a:p>
        </p:txBody>
      </p:sp>
      <p:grpSp>
        <p:nvGrpSpPr>
          <p:cNvPr id="65" name="그룹 64">
            <a:extLst>
              <a:ext uri="{FF2B5EF4-FFF2-40B4-BE49-F238E27FC236}">
                <a16:creationId xmlns:a16="http://schemas.microsoft.com/office/drawing/2014/main" id="{89D9931C-A4B8-49A5-9A51-5F787F8857A4}"/>
              </a:ext>
            </a:extLst>
          </p:cNvPr>
          <p:cNvGrpSpPr/>
          <p:nvPr/>
        </p:nvGrpSpPr>
        <p:grpSpPr>
          <a:xfrm>
            <a:off x="449580" y="3191256"/>
            <a:ext cx="3947160" cy="1691640"/>
            <a:chOff x="502920" y="3584448"/>
            <a:chExt cx="4069080" cy="2084832"/>
          </a:xfrm>
        </p:grpSpPr>
        <p:sp>
          <p:nvSpPr>
            <p:cNvPr id="10" name="Shape 8"/>
            <p:cNvSpPr/>
            <p:nvPr/>
          </p:nvSpPr>
          <p:spPr>
            <a:xfrm>
              <a:off x="502920" y="3584448"/>
              <a:ext cx="777240" cy="347472"/>
            </a:xfrm>
            <a:prstGeom prst="rect">
              <a:avLst/>
            </a:prstGeom>
            <a:solidFill>
              <a:srgbClr val="1E2761"/>
            </a:solidFill>
            <a:ln w="12700">
              <a:solidFill>
                <a:srgbClr val="2A3060"/>
              </a:solidFill>
              <a:prstDash val="solid"/>
            </a:ln>
          </p:spPr>
        </p:sp>
        <p:sp>
          <p:nvSpPr>
            <p:cNvPr id="11" name="Text 9"/>
            <p:cNvSpPr/>
            <p:nvPr/>
          </p:nvSpPr>
          <p:spPr>
            <a:xfrm>
              <a:off x="548640" y="3584448"/>
              <a:ext cx="685800" cy="347472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l">
                <a:buNone/>
              </a:pPr>
              <a:r>
                <a:rPr lang="en-US" sz="900" b="1" dirty="0">
                  <a:solidFill>
                    <a:srgbClr val="FFFFFF"/>
                  </a:solidFill>
                </a:rPr>
                <a:t>구분</a:t>
              </a:r>
              <a:endParaRPr lang="en-US" sz="900" dirty="0"/>
            </a:p>
          </p:txBody>
        </p:sp>
        <p:sp>
          <p:nvSpPr>
            <p:cNvPr id="12" name="Shape 10"/>
            <p:cNvSpPr/>
            <p:nvPr/>
          </p:nvSpPr>
          <p:spPr>
            <a:xfrm>
              <a:off x="1325880" y="3584448"/>
              <a:ext cx="1051560" cy="347472"/>
            </a:xfrm>
            <a:prstGeom prst="rect">
              <a:avLst/>
            </a:prstGeom>
            <a:solidFill>
              <a:srgbClr val="1E2761"/>
            </a:solidFill>
            <a:ln w="12700">
              <a:solidFill>
                <a:srgbClr val="2A3060"/>
              </a:solidFill>
              <a:prstDash val="solid"/>
            </a:ln>
          </p:spPr>
        </p:sp>
        <p:sp>
          <p:nvSpPr>
            <p:cNvPr id="13" name="Text 11"/>
            <p:cNvSpPr/>
            <p:nvPr/>
          </p:nvSpPr>
          <p:spPr>
            <a:xfrm>
              <a:off x="1371600" y="3584448"/>
              <a:ext cx="960120" cy="347472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900" b="1" dirty="0">
                  <a:solidFill>
                    <a:srgbClr val="FFFFFF"/>
                  </a:solidFill>
                </a:rPr>
                <a:t>MCP</a:t>
              </a:r>
              <a:endParaRPr lang="en-US" sz="900" dirty="0"/>
            </a:p>
          </p:txBody>
        </p:sp>
        <p:sp>
          <p:nvSpPr>
            <p:cNvPr id="14" name="Shape 12"/>
            <p:cNvSpPr/>
            <p:nvPr/>
          </p:nvSpPr>
          <p:spPr>
            <a:xfrm>
              <a:off x="2423160" y="3584448"/>
              <a:ext cx="1051560" cy="347472"/>
            </a:xfrm>
            <a:prstGeom prst="rect">
              <a:avLst/>
            </a:prstGeom>
            <a:solidFill>
              <a:srgbClr val="1E2761"/>
            </a:solidFill>
            <a:ln w="12700">
              <a:solidFill>
                <a:srgbClr val="2A3060"/>
              </a:solidFill>
              <a:prstDash val="solid"/>
            </a:ln>
          </p:spPr>
        </p:sp>
        <p:sp>
          <p:nvSpPr>
            <p:cNvPr id="15" name="Text 13"/>
            <p:cNvSpPr/>
            <p:nvPr/>
          </p:nvSpPr>
          <p:spPr>
            <a:xfrm>
              <a:off x="2468880" y="3584448"/>
              <a:ext cx="960120" cy="347472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900" b="1" dirty="0">
                  <a:solidFill>
                    <a:srgbClr val="FFFFFF"/>
                  </a:solidFill>
                </a:rPr>
                <a:t>Skills</a:t>
              </a:r>
              <a:endParaRPr lang="en-US" sz="900" dirty="0"/>
            </a:p>
          </p:txBody>
        </p:sp>
        <p:sp>
          <p:nvSpPr>
            <p:cNvPr id="16" name="Shape 14"/>
            <p:cNvSpPr/>
            <p:nvPr/>
          </p:nvSpPr>
          <p:spPr>
            <a:xfrm>
              <a:off x="3520440" y="3584448"/>
              <a:ext cx="1051560" cy="347472"/>
            </a:xfrm>
            <a:prstGeom prst="rect">
              <a:avLst/>
            </a:prstGeom>
            <a:solidFill>
              <a:srgbClr val="1E2761"/>
            </a:solidFill>
            <a:ln w="12700">
              <a:solidFill>
                <a:srgbClr val="2A3060"/>
              </a:solidFill>
              <a:prstDash val="solid"/>
            </a:ln>
          </p:spPr>
        </p:sp>
        <p:sp>
          <p:nvSpPr>
            <p:cNvPr id="17" name="Text 15"/>
            <p:cNvSpPr/>
            <p:nvPr/>
          </p:nvSpPr>
          <p:spPr>
            <a:xfrm>
              <a:off x="3566160" y="3584448"/>
              <a:ext cx="960120" cy="347472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900" b="1" dirty="0">
                  <a:solidFill>
                    <a:srgbClr val="FFFFFF"/>
                  </a:solidFill>
                </a:rPr>
                <a:t>Plugin</a:t>
              </a:r>
              <a:endParaRPr lang="en-US" sz="900" dirty="0"/>
            </a:p>
          </p:txBody>
        </p:sp>
        <p:sp>
          <p:nvSpPr>
            <p:cNvPr id="18" name="Shape 16"/>
            <p:cNvSpPr/>
            <p:nvPr/>
          </p:nvSpPr>
          <p:spPr>
            <a:xfrm>
              <a:off x="502920" y="3931920"/>
              <a:ext cx="777240" cy="347472"/>
            </a:xfrm>
            <a:prstGeom prst="rect">
              <a:avLst/>
            </a:prstGeom>
            <a:solidFill>
              <a:srgbClr val="13162A"/>
            </a:solidFill>
            <a:ln w="12700">
              <a:solidFill>
                <a:srgbClr val="2A3060"/>
              </a:solidFill>
              <a:prstDash val="solid"/>
            </a:ln>
          </p:spPr>
        </p:sp>
        <p:sp>
          <p:nvSpPr>
            <p:cNvPr id="19" name="Text 17"/>
            <p:cNvSpPr/>
            <p:nvPr/>
          </p:nvSpPr>
          <p:spPr>
            <a:xfrm>
              <a:off x="548640" y="3931920"/>
              <a:ext cx="685800" cy="347472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l">
                <a:buNone/>
              </a:pPr>
              <a:r>
                <a:rPr lang="en-US" sz="900" dirty="0">
                  <a:solidFill>
                    <a:srgbClr val="C8DCFC"/>
                  </a:solidFill>
                </a:rPr>
                <a:t>본질</a:t>
              </a:r>
              <a:endParaRPr lang="en-US" sz="900" dirty="0"/>
            </a:p>
          </p:txBody>
        </p:sp>
        <p:sp>
          <p:nvSpPr>
            <p:cNvPr id="20" name="Shape 18"/>
            <p:cNvSpPr/>
            <p:nvPr/>
          </p:nvSpPr>
          <p:spPr>
            <a:xfrm>
              <a:off x="1325880" y="3931920"/>
              <a:ext cx="1051560" cy="347472"/>
            </a:xfrm>
            <a:prstGeom prst="rect">
              <a:avLst/>
            </a:prstGeom>
            <a:solidFill>
              <a:srgbClr val="13162A"/>
            </a:solidFill>
            <a:ln w="12700">
              <a:solidFill>
                <a:srgbClr val="2A3060"/>
              </a:solidFill>
              <a:prstDash val="solid"/>
            </a:ln>
          </p:spPr>
        </p:sp>
        <p:sp>
          <p:nvSpPr>
            <p:cNvPr id="21" name="Text 19"/>
            <p:cNvSpPr/>
            <p:nvPr/>
          </p:nvSpPr>
          <p:spPr>
            <a:xfrm>
              <a:off x="1371600" y="3931920"/>
              <a:ext cx="960120" cy="347472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800" dirty="0">
                  <a:solidFill>
                    <a:srgbClr val="C8DCFC"/>
                  </a:solidFill>
                </a:rPr>
                <a:t>외부 </a:t>
              </a:r>
              <a:r>
                <a:rPr lang="en-US" sz="800" dirty="0" err="1">
                  <a:solidFill>
                    <a:srgbClr val="C8DCFC"/>
                  </a:solidFill>
                </a:rPr>
                <a:t>연결</a:t>
              </a:r>
              <a:r>
                <a:rPr lang="en-US" sz="800" dirty="0">
                  <a:solidFill>
                    <a:srgbClr val="C8DCFC"/>
                  </a:solidFill>
                </a:rPr>
                <a:t> </a:t>
              </a:r>
              <a:br>
                <a:rPr lang="en-US" sz="800" dirty="0">
                  <a:solidFill>
                    <a:srgbClr val="C8DCFC"/>
                  </a:solidFill>
                </a:rPr>
              </a:br>
              <a:r>
                <a:rPr lang="en-US" sz="800" dirty="0" err="1">
                  <a:solidFill>
                    <a:srgbClr val="C8DCFC"/>
                  </a:solidFill>
                </a:rPr>
                <a:t>프로토콜</a:t>
              </a:r>
              <a:endParaRPr lang="en-US" sz="800" dirty="0"/>
            </a:p>
          </p:txBody>
        </p:sp>
        <p:sp>
          <p:nvSpPr>
            <p:cNvPr id="22" name="Shape 20"/>
            <p:cNvSpPr/>
            <p:nvPr/>
          </p:nvSpPr>
          <p:spPr>
            <a:xfrm>
              <a:off x="2423160" y="3931920"/>
              <a:ext cx="1051560" cy="347472"/>
            </a:xfrm>
            <a:prstGeom prst="rect">
              <a:avLst/>
            </a:prstGeom>
            <a:solidFill>
              <a:srgbClr val="13162A"/>
            </a:solidFill>
            <a:ln w="12700">
              <a:solidFill>
                <a:srgbClr val="2A3060"/>
              </a:solidFill>
              <a:prstDash val="solid"/>
            </a:ln>
          </p:spPr>
        </p:sp>
        <p:sp>
          <p:nvSpPr>
            <p:cNvPr id="23" name="Text 21"/>
            <p:cNvSpPr/>
            <p:nvPr/>
          </p:nvSpPr>
          <p:spPr>
            <a:xfrm>
              <a:off x="2468880" y="3931920"/>
              <a:ext cx="960120" cy="347472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800" dirty="0">
                  <a:solidFill>
                    <a:srgbClr val="C8DCFC"/>
                  </a:solidFill>
                </a:rPr>
                <a:t>방법 가르치는 문서</a:t>
              </a:r>
              <a:endParaRPr lang="en-US" sz="800" dirty="0"/>
            </a:p>
          </p:txBody>
        </p:sp>
        <p:sp>
          <p:nvSpPr>
            <p:cNvPr id="24" name="Shape 22"/>
            <p:cNvSpPr/>
            <p:nvPr/>
          </p:nvSpPr>
          <p:spPr>
            <a:xfrm>
              <a:off x="3520440" y="3931920"/>
              <a:ext cx="1051560" cy="347472"/>
            </a:xfrm>
            <a:prstGeom prst="rect">
              <a:avLst/>
            </a:prstGeom>
            <a:solidFill>
              <a:srgbClr val="13162A"/>
            </a:solidFill>
            <a:ln w="12700">
              <a:solidFill>
                <a:srgbClr val="2A3060"/>
              </a:solidFill>
              <a:prstDash val="solid"/>
            </a:ln>
          </p:spPr>
        </p:sp>
        <p:sp>
          <p:nvSpPr>
            <p:cNvPr id="25" name="Text 23"/>
            <p:cNvSpPr/>
            <p:nvPr/>
          </p:nvSpPr>
          <p:spPr>
            <a:xfrm>
              <a:off x="3566160" y="3931920"/>
              <a:ext cx="960120" cy="347472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800" dirty="0">
                  <a:solidFill>
                    <a:srgbClr val="C8DCFC"/>
                  </a:solidFill>
                </a:rPr>
                <a:t>확장 </a:t>
              </a:r>
              <a:r>
                <a:rPr lang="en-US" sz="800" dirty="0" err="1">
                  <a:solidFill>
                    <a:srgbClr val="C8DCFC"/>
                  </a:solidFill>
                </a:rPr>
                <a:t>배포</a:t>
              </a:r>
              <a:r>
                <a:rPr lang="en-US" sz="800" dirty="0">
                  <a:solidFill>
                    <a:srgbClr val="C8DCFC"/>
                  </a:solidFill>
                </a:rPr>
                <a:t> </a:t>
              </a:r>
              <a:br>
                <a:rPr lang="en-US" sz="800" dirty="0">
                  <a:solidFill>
                    <a:srgbClr val="C8DCFC"/>
                  </a:solidFill>
                </a:rPr>
              </a:br>
              <a:r>
                <a:rPr lang="en-US" sz="800" dirty="0" err="1">
                  <a:solidFill>
                    <a:srgbClr val="C8DCFC"/>
                  </a:solidFill>
                </a:rPr>
                <a:t>패키지</a:t>
              </a:r>
              <a:endParaRPr lang="en-US" sz="800" dirty="0"/>
            </a:p>
          </p:txBody>
        </p:sp>
        <p:sp>
          <p:nvSpPr>
            <p:cNvPr id="26" name="Shape 24"/>
            <p:cNvSpPr/>
            <p:nvPr/>
          </p:nvSpPr>
          <p:spPr>
            <a:xfrm>
              <a:off x="502920" y="4279392"/>
              <a:ext cx="777240" cy="347472"/>
            </a:xfrm>
            <a:prstGeom prst="rect">
              <a:avLst/>
            </a:prstGeom>
            <a:solidFill>
              <a:srgbClr val="1A2140"/>
            </a:solidFill>
            <a:ln w="12700">
              <a:solidFill>
                <a:srgbClr val="2A3060"/>
              </a:solidFill>
              <a:prstDash val="solid"/>
            </a:ln>
          </p:spPr>
        </p:sp>
        <p:sp>
          <p:nvSpPr>
            <p:cNvPr id="27" name="Text 25"/>
            <p:cNvSpPr/>
            <p:nvPr/>
          </p:nvSpPr>
          <p:spPr>
            <a:xfrm>
              <a:off x="548640" y="4279392"/>
              <a:ext cx="685800" cy="347472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l">
                <a:buNone/>
              </a:pPr>
              <a:r>
                <a:rPr lang="en-US" sz="900" dirty="0">
                  <a:solidFill>
                    <a:srgbClr val="C8DCFC"/>
                  </a:solidFill>
                </a:rPr>
                <a:t>형태</a:t>
              </a:r>
              <a:endParaRPr lang="en-US" sz="900" dirty="0"/>
            </a:p>
          </p:txBody>
        </p:sp>
        <p:sp>
          <p:nvSpPr>
            <p:cNvPr id="28" name="Shape 26"/>
            <p:cNvSpPr/>
            <p:nvPr/>
          </p:nvSpPr>
          <p:spPr>
            <a:xfrm>
              <a:off x="1325880" y="4279392"/>
              <a:ext cx="1051560" cy="347472"/>
            </a:xfrm>
            <a:prstGeom prst="rect">
              <a:avLst/>
            </a:prstGeom>
            <a:solidFill>
              <a:srgbClr val="1A2140"/>
            </a:solidFill>
            <a:ln w="12700">
              <a:solidFill>
                <a:srgbClr val="2A3060"/>
              </a:solidFill>
              <a:prstDash val="solid"/>
            </a:ln>
          </p:spPr>
        </p:sp>
        <p:sp>
          <p:nvSpPr>
            <p:cNvPr id="29" name="Text 27"/>
            <p:cNvSpPr/>
            <p:nvPr/>
          </p:nvSpPr>
          <p:spPr>
            <a:xfrm>
              <a:off x="1371600" y="4279392"/>
              <a:ext cx="960120" cy="347472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800" dirty="0">
                  <a:solidFill>
                    <a:srgbClr val="C8DCFC"/>
                  </a:solidFill>
                </a:rPr>
                <a:t>실행 중인 서버 프로세스</a:t>
              </a:r>
              <a:endParaRPr lang="en-US" sz="800" dirty="0"/>
            </a:p>
          </p:txBody>
        </p:sp>
        <p:sp>
          <p:nvSpPr>
            <p:cNvPr id="30" name="Shape 28"/>
            <p:cNvSpPr/>
            <p:nvPr/>
          </p:nvSpPr>
          <p:spPr>
            <a:xfrm>
              <a:off x="2423160" y="4279392"/>
              <a:ext cx="1051560" cy="347472"/>
            </a:xfrm>
            <a:prstGeom prst="rect">
              <a:avLst/>
            </a:prstGeom>
            <a:solidFill>
              <a:srgbClr val="1A2140"/>
            </a:solidFill>
            <a:ln w="12700">
              <a:solidFill>
                <a:srgbClr val="2A3060"/>
              </a:solidFill>
              <a:prstDash val="solid"/>
            </a:ln>
          </p:spPr>
        </p:sp>
        <p:sp>
          <p:nvSpPr>
            <p:cNvPr id="31" name="Text 29"/>
            <p:cNvSpPr/>
            <p:nvPr/>
          </p:nvSpPr>
          <p:spPr>
            <a:xfrm>
              <a:off x="2468880" y="4279392"/>
              <a:ext cx="960120" cy="347472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900" dirty="0">
                  <a:solidFill>
                    <a:srgbClr val="C8DCFC"/>
                  </a:solidFill>
                </a:rPr>
                <a:t>SKILL.md 파일</a:t>
              </a:r>
              <a:endParaRPr lang="en-US" sz="900" dirty="0"/>
            </a:p>
          </p:txBody>
        </p:sp>
        <p:sp>
          <p:nvSpPr>
            <p:cNvPr id="32" name="Shape 30"/>
            <p:cNvSpPr/>
            <p:nvPr/>
          </p:nvSpPr>
          <p:spPr>
            <a:xfrm>
              <a:off x="3520440" y="4279392"/>
              <a:ext cx="1051560" cy="347472"/>
            </a:xfrm>
            <a:prstGeom prst="rect">
              <a:avLst/>
            </a:prstGeom>
            <a:solidFill>
              <a:srgbClr val="1A2140"/>
            </a:solidFill>
            <a:ln w="12700">
              <a:solidFill>
                <a:srgbClr val="2A3060"/>
              </a:solidFill>
              <a:prstDash val="solid"/>
            </a:ln>
          </p:spPr>
        </p:sp>
        <p:sp>
          <p:nvSpPr>
            <p:cNvPr id="33" name="Text 31"/>
            <p:cNvSpPr/>
            <p:nvPr/>
          </p:nvSpPr>
          <p:spPr>
            <a:xfrm>
              <a:off x="3566160" y="4279392"/>
              <a:ext cx="1005840" cy="347472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800" dirty="0" err="1">
                  <a:solidFill>
                    <a:srgbClr val="C8DCFC"/>
                  </a:solidFill>
                </a:rPr>
                <a:t>Skills+MCP+Hooks</a:t>
              </a:r>
              <a:r>
                <a:rPr lang="en-US" sz="800" dirty="0">
                  <a:solidFill>
                    <a:srgbClr val="C8DCFC"/>
                  </a:solidFill>
                </a:rPr>
                <a:t> </a:t>
              </a:r>
              <a:r>
                <a:rPr lang="en-US" sz="800" dirty="0" err="1">
                  <a:solidFill>
                    <a:srgbClr val="C8DCFC"/>
                  </a:solidFill>
                </a:rPr>
                <a:t>묶음</a:t>
              </a:r>
              <a:endParaRPr lang="en-US" sz="800" dirty="0"/>
            </a:p>
          </p:txBody>
        </p:sp>
        <p:sp>
          <p:nvSpPr>
            <p:cNvPr id="34" name="Shape 32"/>
            <p:cNvSpPr/>
            <p:nvPr/>
          </p:nvSpPr>
          <p:spPr>
            <a:xfrm>
              <a:off x="502920" y="4626864"/>
              <a:ext cx="777240" cy="347472"/>
            </a:xfrm>
            <a:prstGeom prst="rect">
              <a:avLst/>
            </a:prstGeom>
            <a:solidFill>
              <a:srgbClr val="13162A"/>
            </a:solidFill>
            <a:ln w="12700">
              <a:solidFill>
                <a:srgbClr val="2A3060"/>
              </a:solidFill>
              <a:prstDash val="solid"/>
            </a:ln>
          </p:spPr>
        </p:sp>
        <p:sp>
          <p:nvSpPr>
            <p:cNvPr id="35" name="Text 33"/>
            <p:cNvSpPr/>
            <p:nvPr/>
          </p:nvSpPr>
          <p:spPr>
            <a:xfrm>
              <a:off x="548640" y="4626864"/>
              <a:ext cx="685800" cy="347472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l">
                <a:buNone/>
              </a:pPr>
              <a:r>
                <a:rPr lang="en-US" sz="900" dirty="0">
                  <a:solidFill>
                    <a:srgbClr val="C8DCFC"/>
                  </a:solidFill>
                </a:rPr>
                <a:t>네트워크</a:t>
              </a:r>
              <a:endParaRPr lang="en-US" sz="900" dirty="0"/>
            </a:p>
          </p:txBody>
        </p:sp>
        <p:sp>
          <p:nvSpPr>
            <p:cNvPr id="36" name="Shape 34"/>
            <p:cNvSpPr/>
            <p:nvPr/>
          </p:nvSpPr>
          <p:spPr>
            <a:xfrm>
              <a:off x="1325880" y="4626864"/>
              <a:ext cx="1051560" cy="347472"/>
            </a:xfrm>
            <a:prstGeom prst="rect">
              <a:avLst/>
            </a:prstGeom>
            <a:solidFill>
              <a:srgbClr val="13162A"/>
            </a:solidFill>
            <a:ln w="12700">
              <a:solidFill>
                <a:srgbClr val="2A3060"/>
              </a:solidFill>
              <a:prstDash val="solid"/>
            </a:ln>
          </p:spPr>
        </p:sp>
        <p:sp>
          <p:nvSpPr>
            <p:cNvPr id="37" name="Text 35"/>
            <p:cNvSpPr/>
            <p:nvPr/>
          </p:nvSpPr>
          <p:spPr>
            <a:xfrm>
              <a:off x="1371600" y="4626864"/>
              <a:ext cx="960120" cy="347472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900" dirty="0">
                  <a:solidFill>
                    <a:srgbClr val="C8DCFC"/>
                  </a:solidFill>
                </a:rPr>
                <a:t>필요</a:t>
              </a:r>
              <a:endParaRPr lang="en-US" sz="900" dirty="0"/>
            </a:p>
          </p:txBody>
        </p:sp>
        <p:sp>
          <p:nvSpPr>
            <p:cNvPr id="38" name="Shape 36"/>
            <p:cNvSpPr/>
            <p:nvPr/>
          </p:nvSpPr>
          <p:spPr>
            <a:xfrm>
              <a:off x="2423160" y="4626864"/>
              <a:ext cx="1051560" cy="347472"/>
            </a:xfrm>
            <a:prstGeom prst="rect">
              <a:avLst/>
            </a:prstGeom>
            <a:solidFill>
              <a:srgbClr val="13162A"/>
            </a:solidFill>
            <a:ln w="12700">
              <a:solidFill>
                <a:srgbClr val="2A3060"/>
              </a:solidFill>
              <a:prstDash val="solid"/>
            </a:ln>
          </p:spPr>
        </p:sp>
        <p:sp>
          <p:nvSpPr>
            <p:cNvPr id="39" name="Text 37"/>
            <p:cNvSpPr/>
            <p:nvPr/>
          </p:nvSpPr>
          <p:spPr>
            <a:xfrm>
              <a:off x="2468880" y="4626864"/>
              <a:ext cx="960120" cy="347472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900" dirty="0">
                  <a:solidFill>
                    <a:srgbClr val="C8DCFC"/>
                  </a:solidFill>
                </a:rPr>
                <a:t>불필요</a:t>
              </a:r>
              <a:endParaRPr lang="en-US" sz="900" dirty="0"/>
            </a:p>
          </p:txBody>
        </p:sp>
        <p:sp>
          <p:nvSpPr>
            <p:cNvPr id="40" name="Shape 38"/>
            <p:cNvSpPr/>
            <p:nvPr/>
          </p:nvSpPr>
          <p:spPr>
            <a:xfrm>
              <a:off x="3520440" y="4626864"/>
              <a:ext cx="1051560" cy="347472"/>
            </a:xfrm>
            <a:prstGeom prst="rect">
              <a:avLst/>
            </a:prstGeom>
            <a:solidFill>
              <a:srgbClr val="13162A"/>
            </a:solidFill>
            <a:ln w="12700">
              <a:solidFill>
                <a:srgbClr val="2A3060"/>
              </a:solidFill>
              <a:prstDash val="solid"/>
            </a:ln>
          </p:spPr>
        </p:sp>
        <p:sp>
          <p:nvSpPr>
            <p:cNvPr id="41" name="Text 39"/>
            <p:cNvSpPr/>
            <p:nvPr/>
          </p:nvSpPr>
          <p:spPr>
            <a:xfrm>
              <a:off x="3566160" y="4626864"/>
              <a:ext cx="960120" cy="347472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900" dirty="0">
                  <a:solidFill>
                    <a:srgbClr val="C8DCFC"/>
                  </a:solidFill>
                </a:rPr>
                <a:t>포함 가능</a:t>
              </a:r>
              <a:endParaRPr lang="en-US" sz="900" dirty="0"/>
            </a:p>
          </p:txBody>
        </p:sp>
        <p:sp>
          <p:nvSpPr>
            <p:cNvPr id="42" name="Shape 40"/>
            <p:cNvSpPr/>
            <p:nvPr/>
          </p:nvSpPr>
          <p:spPr>
            <a:xfrm>
              <a:off x="502920" y="4974336"/>
              <a:ext cx="777240" cy="347472"/>
            </a:xfrm>
            <a:prstGeom prst="rect">
              <a:avLst/>
            </a:prstGeom>
            <a:solidFill>
              <a:srgbClr val="1A2140"/>
            </a:solidFill>
            <a:ln w="12700">
              <a:solidFill>
                <a:srgbClr val="2A3060"/>
              </a:solidFill>
              <a:prstDash val="solid"/>
            </a:ln>
          </p:spPr>
        </p:sp>
        <p:sp>
          <p:nvSpPr>
            <p:cNvPr id="43" name="Text 41"/>
            <p:cNvSpPr/>
            <p:nvPr/>
          </p:nvSpPr>
          <p:spPr>
            <a:xfrm>
              <a:off x="548640" y="4974336"/>
              <a:ext cx="685800" cy="347472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l">
                <a:buNone/>
              </a:pPr>
              <a:r>
                <a:rPr lang="en-US" sz="900" dirty="0">
                  <a:solidFill>
                    <a:srgbClr val="C8DCFC"/>
                  </a:solidFill>
                </a:rPr>
                <a:t>범위</a:t>
              </a:r>
              <a:endParaRPr lang="en-US" sz="900" dirty="0"/>
            </a:p>
          </p:txBody>
        </p:sp>
        <p:sp>
          <p:nvSpPr>
            <p:cNvPr id="44" name="Shape 42"/>
            <p:cNvSpPr/>
            <p:nvPr/>
          </p:nvSpPr>
          <p:spPr>
            <a:xfrm>
              <a:off x="1325880" y="4974336"/>
              <a:ext cx="1051560" cy="347472"/>
            </a:xfrm>
            <a:prstGeom prst="rect">
              <a:avLst/>
            </a:prstGeom>
            <a:solidFill>
              <a:srgbClr val="1A2140"/>
            </a:solidFill>
            <a:ln w="12700">
              <a:solidFill>
                <a:srgbClr val="2A3060"/>
              </a:solidFill>
              <a:prstDash val="solid"/>
            </a:ln>
          </p:spPr>
        </p:sp>
        <p:sp>
          <p:nvSpPr>
            <p:cNvPr id="45" name="Text 43"/>
            <p:cNvSpPr/>
            <p:nvPr/>
          </p:nvSpPr>
          <p:spPr>
            <a:xfrm>
              <a:off x="1371600" y="4974336"/>
              <a:ext cx="960120" cy="347472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800" dirty="0">
                  <a:solidFill>
                    <a:srgbClr val="C8DCFC"/>
                  </a:solidFill>
                </a:rPr>
                <a:t>업계 </a:t>
              </a:r>
              <a:r>
                <a:rPr lang="en-US" sz="800" dirty="0" err="1">
                  <a:solidFill>
                    <a:srgbClr val="C8DCFC"/>
                  </a:solidFill>
                </a:rPr>
                <a:t>표준</a:t>
              </a:r>
              <a:r>
                <a:rPr lang="en-US" sz="800" dirty="0">
                  <a:solidFill>
                    <a:srgbClr val="C8DCFC"/>
                  </a:solidFill>
                </a:rPr>
                <a:t> </a:t>
              </a:r>
              <a:br>
                <a:rPr lang="en-US" sz="800" dirty="0">
                  <a:solidFill>
                    <a:srgbClr val="C8DCFC"/>
                  </a:solidFill>
                </a:rPr>
              </a:br>
              <a:r>
                <a:rPr lang="en-US" sz="800" dirty="0">
                  <a:solidFill>
                    <a:srgbClr val="C8DCFC"/>
                  </a:solidFill>
                </a:rPr>
                <a:t>(어디서나)</a:t>
              </a:r>
              <a:endParaRPr lang="en-US" sz="800" dirty="0"/>
            </a:p>
          </p:txBody>
        </p:sp>
        <p:sp>
          <p:nvSpPr>
            <p:cNvPr id="46" name="Shape 44"/>
            <p:cNvSpPr/>
            <p:nvPr/>
          </p:nvSpPr>
          <p:spPr>
            <a:xfrm>
              <a:off x="2423160" y="4974336"/>
              <a:ext cx="1051560" cy="347472"/>
            </a:xfrm>
            <a:prstGeom prst="rect">
              <a:avLst/>
            </a:prstGeom>
            <a:solidFill>
              <a:srgbClr val="1A2140"/>
            </a:solidFill>
            <a:ln w="12700">
              <a:solidFill>
                <a:srgbClr val="2A3060"/>
              </a:solidFill>
              <a:prstDash val="solid"/>
            </a:ln>
          </p:spPr>
        </p:sp>
        <p:sp>
          <p:nvSpPr>
            <p:cNvPr id="47" name="Text 45"/>
            <p:cNvSpPr/>
            <p:nvPr/>
          </p:nvSpPr>
          <p:spPr>
            <a:xfrm>
              <a:off x="2468880" y="4974336"/>
              <a:ext cx="960120" cy="347472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900" dirty="0">
                  <a:solidFill>
                    <a:srgbClr val="C8DCFC"/>
                  </a:solidFill>
                </a:rPr>
                <a:t>Claude Code</a:t>
              </a:r>
              <a:br>
                <a:rPr lang="en-US" sz="900" dirty="0">
                  <a:solidFill>
                    <a:srgbClr val="C8DCFC"/>
                  </a:solidFill>
                </a:rPr>
              </a:br>
              <a:r>
                <a:rPr lang="en-US" sz="900" dirty="0">
                  <a:solidFill>
                    <a:srgbClr val="C8DCFC"/>
                  </a:solidFill>
                </a:rPr>
                <a:t> 중심</a:t>
              </a:r>
              <a:endParaRPr lang="en-US" sz="900" dirty="0"/>
            </a:p>
          </p:txBody>
        </p:sp>
        <p:sp>
          <p:nvSpPr>
            <p:cNvPr id="48" name="Shape 46"/>
            <p:cNvSpPr/>
            <p:nvPr/>
          </p:nvSpPr>
          <p:spPr>
            <a:xfrm>
              <a:off x="3520440" y="4974336"/>
              <a:ext cx="1051560" cy="347472"/>
            </a:xfrm>
            <a:prstGeom prst="rect">
              <a:avLst/>
            </a:prstGeom>
            <a:solidFill>
              <a:srgbClr val="1A2140"/>
            </a:solidFill>
            <a:ln w="12700">
              <a:solidFill>
                <a:srgbClr val="2A3060"/>
              </a:solidFill>
              <a:prstDash val="solid"/>
            </a:ln>
          </p:spPr>
        </p:sp>
        <p:sp>
          <p:nvSpPr>
            <p:cNvPr id="49" name="Text 47"/>
            <p:cNvSpPr/>
            <p:nvPr/>
          </p:nvSpPr>
          <p:spPr>
            <a:xfrm>
              <a:off x="3566160" y="4974336"/>
              <a:ext cx="960120" cy="347472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900" dirty="0">
                  <a:solidFill>
                    <a:srgbClr val="C8DCFC"/>
                  </a:solidFill>
                </a:rPr>
                <a:t>Claude Code</a:t>
              </a:r>
              <a:br>
                <a:rPr lang="en-US" sz="900" dirty="0">
                  <a:solidFill>
                    <a:srgbClr val="C8DCFC"/>
                  </a:solidFill>
                </a:rPr>
              </a:br>
              <a:r>
                <a:rPr lang="en-US" sz="900" dirty="0">
                  <a:solidFill>
                    <a:srgbClr val="C8DCFC"/>
                  </a:solidFill>
                </a:rPr>
                <a:t> 특화</a:t>
              </a:r>
              <a:endParaRPr lang="en-US" sz="900" dirty="0"/>
            </a:p>
          </p:txBody>
        </p:sp>
        <p:sp>
          <p:nvSpPr>
            <p:cNvPr id="50" name="Shape 48"/>
            <p:cNvSpPr/>
            <p:nvPr/>
          </p:nvSpPr>
          <p:spPr>
            <a:xfrm>
              <a:off x="502920" y="5321808"/>
              <a:ext cx="777240" cy="347472"/>
            </a:xfrm>
            <a:prstGeom prst="rect">
              <a:avLst/>
            </a:prstGeom>
            <a:solidFill>
              <a:srgbClr val="13162A"/>
            </a:solidFill>
            <a:ln w="12700">
              <a:solidFill>
                <a:srgbClr val="2A3060"/>
              </a:solidFill>
              <a:prstDash val="solid"/>
            </a:ln>
          </p:spPr>
        </p:sp>
        <p:sp>
          <p:nvSpPr>
            <p:cNvPr id="51" name="Text 49"/>
            <p:cNvSpPr/>
            <p:nvPr/>
          </p:nvSpPr>
          <p:spPr>
            <a:xfrm>
              <a:off x="548640" y="5321808"/>
              <a:ext cx="685800" cy="347472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l">
                <a:buNone/>
              </a:pPr>
              <a:r>
                <a:rPr lang="en-US" sz="900" dirty="0">
                  <a:solidFill>
                    <a:srgbClr val="C8DCFC"/>
                  </a:solidFill>
                </a:rPr>
                <a:t>비유</a:t>
              </a:r>
              <a:endParaRPr lang="en-US" sz="900" dirty="0"/>
            </a:p>
          </p:txBody>
        </p:sp>
        <p:sp>
          <p:nvSpPr>
            <p:cNvPr id="52" name="Shape 50"/>
            <p:cNvSpPr/>
            <p:nvPr/>
          </p:nvSpPr>
          <p:spPr>
            <a:xfrm>
              <a:off x="1325880" y="5321808"/>
              <a:ext cx="1051560" cy="347472"/>
            </a:xfrm>
            <a:prstGeom prst="rect">
              <a:avLst/>
            </a:prstGeom>
            <a:solidFill>
              <a:srgbClr val="13162A"/>
            </a:solidFill>
            <a:ln w="12700">
              <a:solidFill>
                <a:srgbClr val="2A3060"/>
              </a:solidFill>
              <a:prstDash val="solid"/>
            </a:ln>
          </p:spPr>
        </p:sp>
        <p:sp>
          <p:nvSpPr>
            <p:cNvPr id="53" name="Text 51"/>
            <p:cNvSpPr/>
            <p:nvPr/>
          </p:nvSpPr>
          <p:spPr>
            <a:xfrm>
              <a:off x="1371600" y="5321808"/>
              <a:ext cx="960120" cy="347472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800" dirty="0" err="1">
                  <a:solidFill>
                    <a:srgbClr val="C8DCFC"/>
                  </a:solidFill>
                </a:rPr>
                <a:t>마트</a:t>
              </a:r>
              <a:r>
                <a:rPr lang="en-US" sz="800" dirty="0">
                  <a:solidFill>
                    <a:srgbClr val="C8DCFC"/>
                  </a:solidFill>
                </a:rPr>
                <a:t> </a:t>
              </a:r>
              <a:r>
                <a:rPr lang="en-US" sz="800" dirty="0" err="1">
                  <a:solidFill>
                    <a:srgbClr val="C8DCFC"/>
                  </a:solidFill>
                </a:rPr>
                <a:t>배달</a:t>
              </a:r>
              <a:br>
                <a:rPr lang="en-US" sz="800" dirty="0">
                  <a:solidFill>
                    <a:srgbClr val="C8DCFC"/>
                  </a:solidFill>
                </a:rPr>
              </a:br>
              <a:r>
                <a:rPr lang="en-US" sz="800" dirty="0">
                  <a:solidFill>
                    <a:srgbClr val="C8DCFC"/>
                  </a:solidFill>
                </a:rPr>
                <a:t> 서비스</a:t>
              </a:r>
              <a:endParaRPr lang="en-US" sz="800" dirty="0"/>
            </a:p>
          </p:txBody>
        </p:sp>
        <p:sp>
          <p:nvSpPr>
            <p:cNvPr id="54" name="Shape 52"/>
            <p:cNvSpPr/>
            <p:nvPr/>
          </p:nvSpPr>
          <p:spPr>
            <a:xfrm>
              <a:off x="2423160" y="5321808"/>
              <a:ext cx="1051560" cy="347472"/>
            </a:xfrm>
            <a:prstGeom prst="rect">
              <a:avLst/>
            </a:prstGeom>
            <a:solidFill>
              <a:srgbClr val="13162A"/>
            </a:solidFill>
            <a:ln w="12700">
              <a:solidFill>
                <a:srgbClr val="2A3060"/>
              </a:solidFill>
              <a:prstDash val="solid"/>
            </a:ln>
          </p:spPr>
        </p:sp>
        <p:sp>
          <p:nvSpPr>
            <p:cNvPr id="55" name="Text 53"/>
            <p:cNvSpPr/>
            <p:nvPr/>
          </p:nvSpPr>
          <p:spPr>
            <a:xfrm>
              <a:off x="2468880" y="5321808"/>
              <a:ext cx="960120" cy="347472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900" dirty="0">
                  <a:solidFill>
                    <a:srgbClr val="C8DCFC"/>
                  </a:solidFill>
                </a:rPr>
                <a:t>요리책</a:t>
              </a:r>
              <a:endParaRPr lang="en-US" sz="900" dirty="0"/>
            </a:p>
          </p:txBody>
        </p:sp>
        <p:sp>
          <p:nvSpPr>
            <p:cNvPr id="56" name="Shape 54"/>
            <p:cNvSpPr/>
            <p:nvPr/>
          </p:nvSpPr>
          <p:spPr>
            <a:xfrm>
              <a:off x="3520440" y="5321808"/>
              <a:ext cx="1051560" cy="347472"/>
            </a:xfrm>
            <a:prstGeom prst="rect">
              <a:avLst/>
            </a:prstGeom>
            <a:solidFill>
              <a:srgbClr val="13162A"/>
            </a:solidFill>
            <a:ln w="12700">
              <a:solidFill>
                <a:srgbClr val="2A3060"/>
              </a:solidFill>
              <a:prstDash val="solid"/>
            </a:ln>
          </p:spPr>
        </p:sp>
        <p:sp>
          <p:nvSpPr>
            <p:cNvPr id="57" name="Text 55"/>
            <p:cNvSpPr/>
            <p:nvPr/>
          </p:nvSpPr>
          <p:spPr>
            <a:xfrm>
              <a:off x="3566160" y="5321808"/>
              <a:ext cx="960120" cy="347472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900" dirty="0">
                  <a:solidFill>
                    <a:srgbClr val="C8DCFC"/>
                  </a:solidFill>
                </a:rPr>
                <a:t>밀키트 패키지</a:t>
              </a:r>
              <a:endParaRPr lang="en-US" sz="900" dirty="0"/>
            </a:p>
          </p:txBody>
        </p:sp>
      </p:grpSp>
      <p:sp>
        <p:nvSpPr>
          <p:cNvPr id="58" name="Shape 56"/>
          <p:cNvSpPr/>
          <p:nvPr/>
        </p:nvSpPr>
        <p:spPr>
          <a:xfrm>
            <a:off x="4663440" y="1078992"/>
            <a:ext cx="4114800" cy="3931920"/>
          </a:xfrm>
          <a:prstGeom prst="rect">
            <a:avLst/>
          </a:prstGeom>
          <a:solidFill>
            <a:srgbClr val="252D4D"/>
          </a:solidFill>
          <a:ln w="25400">
            <a:solidFill>
              <a:srgbClr val="2DD4BF"/>
            </a:solidFill>
            <a:prstDash val="solid"/>
          </a:ln>
          <a:effectLst>
            <a:outerShdw blurRad="101600" dist="254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59" name="Shape 57"/>
          <p:cNvSpPr/>
          <p:nvPr/>
        </p:nvSpPr>
        <p:spPr>
          <a:xfrm>
            <a:off x="4663440" y="1078992"/>
            <a:ext cx="4114800" cy="64008"/>
          </a:xfrm>
          <a:prstGeom prst="rect">
            <a:avLst/>
          </a:prstGeom>
          <a:solidFill>
            <a:srgbClr val="2DD4BF"/>
          </a:solidFill>
          <a:ln w="12700">
            <a:solidFill>
              <a:srgbClr val="2DD4BF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4800600" y="1170432"/>
            <a:ext cx="3840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DD4B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📦  Plugin (Claude Code 전용)</a:t>
            </a:r>
            <a:endParaRPr lang="en-US" sz="1400" dirty="0"/>
          </a:p>
        </p:txBody>
      </p:sp>
      <p:sp>
        <p:nvSpPr>
          <p:cNvPr id="61" name="Text 59"/>
          <p:cNvSpPr/>
          <p:nvPr/>
        </p:nvSpPr>
        <p:spPr>
          <a:xfrm>
            <a:off x="4800600" y="1627632"/>
            <a:ext cx="3840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C8DCFC"/>
                </a:solidFill>
              </a:rPr>
              <a:t>2025년 10월 출시. 여러 확장을 하나의 배포 패키지로 묶어</a:t>
            </a:r>
            <a:endParaRPr lang="en-US" sz="1100" dirty="0"/>
          </a:p>
          <a:p>
            <a:pPr marL="0" indent="0">
              <a:buNone/>
            </a:pPr>
            <a:r>
              <a:rPr lang="en-US" sz="1100" i="1" dirty="0">
                <a:solidFill>
                  <a:srgbClr val="C8DCFC"/>
                </a:solidFill>
              </a:rPr>
              <a:t>"내 팀 셋업 그대로" 한 명령어로 공유</a:t>
            </a:r>
            <a:endParaRPr lang="en-US" sz="1100" dirty="0"/>
          </a:p>
        </p:txBody>
      </p:sp>
      <p:sp>
        <p:nvSpPr>
          <p:cNvPr id="62" name="Text 60"/>
          <p:cNvSpPr/>
          <p:nvPr/>
        </p:nvSpPr>
        <p:spPr>
          <a:xfrm>
            <a:off x="4800600" y="1965960"/>
            <a:ext cx="384048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Commands — /deploy, /review 단축 명령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Subagents — 특화된 AI 에이전트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Skills — 도메인 지식 패키지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 Servers — 외부 연결 설정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Hooks — 자동 트리거 스크립트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LSP Servers — IDE 언어 서버 통합</a:t>
            </a:r>
            <a:endParaRPr lang="en-US" sz="1100" dirty="0"/>
          </a:p>
        </p:txBody>
      </p:sp>
      <p:sp>
        <p:nvSpPr>
          <p:cNvPr id="63" name="Shape 61"/>
          <p:cNvSpPr/>
          <p:nvPr/>
        </p:nvSpPr>
        <p:spPr>
          <a:xfrm>
            <a:off x="4800600" y="3951224"/>
            <a:ext cx="3840480" cy="749808"/>
          </a:xfrm>
          <a:prstGeom prst="rect">
            <a:avLst/>
          </a:prstGeom>
          <a:solidFill>
            <a:srgbClr val="1A2550"/>
          </a:solidFill>
          <a:ln w="12700">
            <a:solidFill>
              <a:srgbClr val="4FC3F7"/>
            </a:solidFill>
            <a:prstDash val="solid"/>
          </a:ln>
        </p:spPr>
        <p:txBody>
          <a:bodyPr/>
          <a:lstStyle/>
          <a:p>
            <a:endParaRPr lang="ko-KR" altLang="en-US" dirty="0"/>
          </a:p>
        </p:txBody>
      </p:sp>
      <p:sp>
        <p:nvSpPr>
          <p:cNvPr id="64" name="Text 62"/>
          <p:cNvSpPr/>
          <p:nvPr/>
        </p:nvSpPr>
        <p:spPr>
          <a:xfrm>
            <a:off x="4892040" y="3978656"/>
            <a:ext cx="3657600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/plugin install </a:t>
            </a:r>
            <a:r>
              <a:rPr lang="en-US" sz="1100" dirty="0">
                <a:solidFill>
                  <a:srgbClr val="4FC3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&lt;marketplace-url&gt;
</a:t>
            </a:r>
            <a:r>
              <a:rPr lang="en-US" sz="1100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/plugin marketplace add </a:t>
            </a:r>
            <a:r>
              <a:rPr lang="en-US" sz="1100" dirty="0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anthropics/skills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4F7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2DD4BF"/>
          </a:solidFill>
          <a:ln w="12700">
            <a:solidFill>
              <a:srgbClr val="2DD4B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82880"/>
            <a:ext cx="8412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276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Subagent — 독립 Agent 병렬 처리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822960"/>
            <a:ext cx="8412480" cy="59436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  <a:effectLst>
            <a:outerShdw blurRad="101600" dist="254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365760" y="822960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ko-KR" altLang="en-US" sz="1300" dirty="0">
                <a:solidFill>
                  <a:srgbClr val="FFFFFF"/>
                </a:solidFill>
              </a:rPr>
              <a:t>📢 </a:t>
            </a:r>
            <a:r>
              <a:rPr lang="en-US" sz="1300" dirty="0" err="1">
                <a:solidFill>
                  <a:srgbClr val="FFFFFF"/>
                </a:solidFill>
              </a:rPr>
              <a:t>메인</a:t>
            </a:r>
            <a:r>
              <a:rPr lang="en-US" sz="1300" dirty="0">
                <a:solidFill>
                  <a:srgbClr val="FFFFFF"/>
                </a:solidFill>
              </a:rPr>
              <a:t> 에이전트에서 독립된 컨텍스트 윈도우로 분리되는 전문화된 AI </a:t>
            </a:r>
            <a:r>
              <a:rPr lang="en-US" sz="1300" dirty="0" err="1">
                <a:solidFill>
                  <a:srgbClr val="FFFFFF"/>
                </a:solidFill>
              </a:rPr>
              <a:t>인스턴스</a:t>
            </a:r>
            <a:endParaRPr lang="en-US" sz="1300" dirty="0">
              <a:solidFill>
                <a:srgbClr val="FFFFFF"/>
              </a:solidFill>
            </a:endParaRPr>
          </a:p>
          <a:p>
            <a:pPr marL="0" indent="0">
              <a:buNone/>
            </a:pPr>
            <a:r>
              <a:rPr lang="ko-KR" altLang="en-US" sz="1300" dirty="0">
                <a:solidFill>
                  <a:srgbClr val="FFFFFF"/>
                </a:solidFill>
              </a:rPr>
              <a:t>📢 </a:t>
            </a:r>
            <a:r>
              <a:rPr lang="en-US" sz="1300" dirty="0" err="1">
                <a:solidFill>
                  <a:srgbClr val="FFFFFF"/>
                </a:solidFill>
              </a:rPr>
              <a:t>메인</a:t>
            </a:r>
            <a:r>
              <a:rPr lang="en-US" sz="1300" dirty="0">
                <a:solidFill>
                  <a:srgbClr val="FFFFFF"/>
                </a:solidFill>
              </a:rPr>
              <a:t> 세션 오염 없이 제한된 권한으로 병렬 실행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65760" y="1572768"/>
            <a:ext cx="1965960" cy="1874520"/>
          </a:xfrm>
          <a:prstGeom prst="rect">
            <a:avLst/>
          </a:prstGeom>
          <a:solidFill>
            <a:srgbClr val="FFFFFF"/>
          </a:solidFill>
          <a:ln w="25400">
            <a:solidFill>
              <a:srgbClr val="34D399"/>
            </a:solidFill>
            <a:prstDash val="solid"/>
          </a:ln>
          <a:effectLst>
            <a:outerShdw blurRad="101600" dist="254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65760" y="1572768"/>
            <a:ext cx="1965960" cy="54864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1664208"/>
            <a:ext cx="1783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276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Claude Code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57200" y="2029968"/>
            <a:ext cx="1783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34D399"/>
                </a:solidFill>
              </a:rPr>
              <a:t>🟢 정식 지원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304800" y="2331720"/>
            <a:ext cx="208788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899BB"/>
                </a:solidFill>
              </a:rPr>
              <a:t>완전 성숙 (2025년 초 공식 릴리스)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8899BB"/>
                </a:solidFill>
              </a:rPr>
              <a:t>100+ 커뮤니티 subagent 오픈소스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8899BB"/>
                </a:solidFill>
              </a:rPr>
              <a:t>.claude/agents/*.md 로 직접 정의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2514600" y="1572768"/>
            <a:ext cx="1965960" cy="1874520"/>
          </a:xfrm>
          <a:prstGeom prst="rect">
            <a:avLst/>
          </a:prstGeom>
          <a:solidFill>
            <a:srgbClr val="FFFFFF"/>
          </a:solidFill>
          <a:ln w="25400">
            <a:solidFill>
              <a:srgbClr val="FBBF24"/>
            </a:solidFill>
            <a:prstDash val="solid"/>
          </a:ln>
          <a:effectLst>
            <a:outerShdw blurRad="101600" dist="254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2514600" y="1572768"/>
            <a:ext cx="1965960" cy="54864"/>
          </a:xfrm>
          <a:prstGeom prst="rect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606040" y="1664208"/>
            <a:ext cx="1783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276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Gemini CLI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2606040" y="2029968"/>
            <a:ext cx="1783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BBF24"/>
                </a:solidFill>
              </a:rPr>
              <a:t>🟡 실험 단계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2468880" y="2331720"/>
            <a:ext cx="208788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899BB"/>
                </a:solidFill>
              </a:rPr>
              <a:t>enableAgents 활성화 필요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8899BB"/>
                </a:solidFill>
              </a:rPr>
              <a:t>YOLO 모드 </a:t>
            </a:r>
            <a:r>
              <a:rPr lang="en-US" sz="1000" dirty="0" err="1">
                <a:solidFill>
                  <a:srgbClr val="8899BB"/>
                </a:solidFill>
              </a:rPr>
              <a:t>강제</a:t>
            </a:r>
            <a:r>
              <a:rPr lang="en-US" sz="1000" dirty="0">
                <a:solidFill>
                  <a:srgbClr val="8899BB"/>
                </a:solidFill>
              </a:rPr>
              <a:t> </a:t>
            </a:r>
            <a:br>
              <a:rPr lang="en-US" sz="1000" dirty="0">
                <a:solidFill>
                  <a:srgbClr val="8899BB"/>
                </a:solidFill>
              </a:rPr>
            </a:br>
            <a:r>
              <a:rPr lang="en-US" sz="1000" dirty="0">
                <a:solidFill>
                  <a:srgbClr val="8899BB"/>
                </a:solidFill>
              </a:rPr>
              <a:t>(사용자 승인 없이 실행)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8899BB"/>
                </a:solidFill>
              </a:rPr>
              <a:t>공식 문서 Warning 표시됨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663440" y="1572768"/>
            <a:ext cx="1965960" cy="1874520"/>
          </a:xfrm>
          <a:prstGeom prst="rect">
            <a:avLst/>
          </a:prstGeom>
          <a:solidFill>
            <a:srgbClr val="FFFFFF"/>
          </a:solidFill>
          <a:ln w="25400">
            <a:solidFill>
              <a:srgbClr val="FBBF24"/>
            </a:solidFill>
            <a:prstDash val="solid"/>
          </a:ln>
          <a:effectLst>
            <a:outerShdw blurRad="101600" dist="254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663440" y="1572768"/>
            <a:ext cx="1965960" cy="54864"/>
          </a:xfrm>
          <a:prstGeom prst="rect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754880" y="1664208"/>
            <a:ext cx="1783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276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OpenAI Codex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754880" y="2029968"/>
            <a:ext cx="1783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BBF24"/>
                </a:solidFill>
              </a:rPr>
              <a:t>🟡 실험 단계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617720" y="2331720"/>
            <a:ext cx="208788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899BB"/>
                </a:solidFill>
              </a:rPr>
              <a:t>Multi-agent 개념 존재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8899BB"/>
                </a:solidFill>
              </a:rPr>
              <a:t>/experimental 활성화 필요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8899BB"/>
                </a:solidFill>
              </a:rPr>
              <a:t>자동 오케스트레이션 중심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6812280" y="1572768"/>
            <a:ext cx="1965960" cy="1874520"/>
          </a:xfrm>
          <a:prstGeom prst="rect">
            <a:avLst/>
          </a:prstGeom>
          <a:solidFill>
            <a:srgbClr val="FFFFFF"/>
          </a:solidFill>
          <a:ln w="25400">
            <a:solidFill>
              <a:srgbClr val="F87171"/>
            </a:solidFill>
            <a:prstDash val="solid"/>
          </a:ln>
          <a:effectLst>
            <a:outerShdw blurRad="101600" dist="254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6812280" y="1572768"/>
            <a:ext cx="1965960" cy="54864"/>
          </a:xfrm>
          <a:prstGeom prst="rect">
            <a:avLst/>
          </a:prstGeom>
          <a:solidFill>
            <a:srgbClr val="F87171"/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903720" y="1664208"/>
            <a:ext cx="1783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276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Antigravity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903720" y="2029968"/>
            <a:ext cx="1783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87171"/>
                </a:solidFill>
              </a:rPr>
              <a:t>🔴 커스텀 불가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6766560" y="2331720"/>
            <a:ext cx="208788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899BB"/>
                </a:solidFill>
              </a:rPr>
              <a:t>Browser Subagent는 시스템 내장 전용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8899BB"/>
                </a:solidFill>
              </a:rPr>
              <a:t>사용자 정의 불가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8899BB"/>
                </a:solidFill>
              </a:rPr>
              <a:t>병렬 세션은 </a:t>
            </a:r>
            <a:r>
              <a:rPr lang="en-US" sz="1000" dirty="0" err="1">
                <a:solidFill>
                  <a:srgbClr val="8899BB"/>
                </a:solidFill>
              </a:rPr>
              <a:t>가능하나</a:t>
            </a:r>
            <a:r>
              <a:rPr lang="en-US" sz="1000" dirty="0">
                <a:solidFill>
                  <a:srgbClr val="8899BB"/>
                </a:solidFill>
              </a:rPr>
              <a:t> </a:t>
            </a:r>
            <a:br>
              <a:rPr lang="en-US" sz="1000" dirty="0">
                <a:solidFill>
                  <a:srgbClr val="8899BB"/>
                </a:solidFill>
              </a:rPr>
            </a:br>
            <a:r>
              <a:rPr lang="en-US" sz="1000" dirty="0">
                <a:solidFill>
                  <a:srgbClr val="8899BB"/>
                </a:solidFill>
              </a:rPr>
              <a:t>Subagent 아님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365760" y="3584448"/>
            <a:ext cx="4206240" cy="1481328"/>
          </a:xfrm>
          <a:prstGeom prst="rect">
            <a:avLst/>
          </a:prstGeom>
          <a:solidFill>
            <a:srgbClr val="0D1117"/>
          </a:solidFill>
          <a:ln w="19050">
            <a:solidFill>
              <a:srgbClr val="2DD4B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02920" y="3639312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DD4BF"/>
                </a:solidFill>
              </a:rPr>
              <a:t>Claude Code — Subagent YAML 구조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502920" y="3931920"/>
            <a:ext cx="3931920" cy="10789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899B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---
</a:t>
            </a:r>
            <a:r>
              <a:rPr lang="en-US" sz="1100" dirty="0">
                <a:solidFill>
                  <a:srgbClr val="4FC3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name: </a:t>
            </a: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security-auditor
</a:t>
            </a:r>
            <a:r>
              <a:rPr lang="en-US" sz="1100" dirty="0">
                <a:solidFill>
                  <a:srgbClr val="4FC3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description: </a:t>
            </a: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보안 취약점 검토 전문 Agent
</a:t>
            </a:r>
            <a:r>
              <a:rPr lang="en-US" sz="1100" dirty="0">
                <a:solidFill>
                  <a:srgbClr val="4FC3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model: </a:t>
            </a:r>
            <a:r>
              <a:rPr lang="en-US" sz="1100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opus        </a:t>
            </a:r>
            <a:r>
              <a:rPr lang="en-US" sz="1100" dirty="0">
                <a:solidFill>
                  <a:srgbClr val="8899B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선택 (기본: inherit)
</a:t>
            </a:r>
            <a:r>
              <a:rPr lang="en-US" sz="1100" dirty="0">
                <a:solidFill>
                  <a:srgbClr val="4FC3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tools: </a:t>
            </a:r>
            <a:r>
              <a:rPr lang="en-US" sz="1100" dirty="0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Read, Grep, Glob   </a:t>
            </a:r>
            <a:r>
              <a:rPr lang="en-US" sz="1100" dirty="0">
                <a:solidFill>
                  <a:srgbClr val="8899B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최소 권한
---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4754880" y="3584448"/>
            <a:ext cx="4023360" cy="1481328"/>
          </a:xfrm>
          <a:prstGeom prst="rect">
            <a:avLst/>
          </a:prstGeom>
          <a:solidFill>
            <a:srgbClr val="FFFFFF"/>
          </a:solidFill>
          <a:ln w="19050">
            <a:solidFill>
              <a:srgbClr val="2DD4BF"/>
            </a:solidFill>
            <a:prstDash val="solid"/>
          </a:ln>
          <a:effectLst>
            <a:outerShdw blurRad="101600" dist="254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4892040" y="3639312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DD4BF"/>
                </a:solidFill>
              </a:rPr>
              <a:t>tools 권한 전략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4846320" y="3977640"/>
            <a:ext cx="3749040" cy="320040"/>
          </a:xfrm>
          <a:prstGeom prst="rect">
            <a:avLst/>
          </a:prstGeom>
          <a:solidFill>
            <a:srgbClr val="F4F7FE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937760" y="3977640"/>
            <a:ext cx="2103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761"/>
                </a:solidFill>
              </a:rPr>
              <a:t>읽기전용 (리뷰·분석)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7086600" y="3977640"/>
            <a:ext cx="1417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Read, Grep, Glob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4846320" y="4325112"/>
            <a:ext cx="3749040" cy="320040"/>
          </a:xfrm>
          <a:prstGeom prst="rect">
            <a:avLst/>
          </a:prstGeom>
          <a:solidFill>
            <a:srgbClr val="F4F7FE"/>
          </a:solidFill>
          <a:ln w="12700">
            <a:solidFill>
              <a:srgbClr val="4FC3F7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937760" y="4325112"/>
            <a:ext cx="2103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761"/>
                </a:solidFill>
              </a:rPr>
              <a:t>읽기/쓰기 (구현 작업)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7086600" y="4325112"/>
            <a:ext cx="1417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FC3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Read, Write, Edit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4846320" y="4672584"/>
            <a:ext cx="3749040" cy="320040"/>
          </a:xfrm>
          <a:prstGeom prst="rect">
            <a:avLst/>
          </a:prstGeom>
          <a:solidFill>
            <a:srgbClr val="F4F7FE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937760" y="4672584"/>
            <a:ext cx="2103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761"/>
                </a:solidFill>
              </a:rPr>
              <a:t>실행포함 (테스트·빌드)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7086600" y="4672584"/>
            <a:ext cx="1417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Read, Write, Bash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A1F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도구별 파일 위치 &amp; 지원 현황 총정리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28600" y="822960"/>
            <a:ext cx="1417320" cy="411480"/>
          </a:xfrm>
          <a:prstGeom prst="rect">
            <a:avLst/>
          </a:prstGeom>
          <a:solidFill>
            <a:srgbClr val="1E2761"/>
          </a:solidFill>
          <a:ln w="12700">
            <a:solidFill>
              <a:srgbClr val="8899B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822960"/>
            <a:ext cx="1325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구성 요소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1691640" y="822960"/>
            <a:ext cx="1828800" cy="411480"/>
          </a:xfrm>
          <a:prstGeom prst="rect">
            <a:avLst/>
          </a:prstGeom>
          <a:solidFill>
            <a:srgbClr val="4FC3F7">
              <a:alpha val="85000"/>
            </a:srgbClr>
          </a:solidFill>
          <a:ln w="12700">
            <a:solidFill>
              <a:srgbClr val="4FC3F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737360" y="822960"/>
            <a:ext cx="1737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Claude Code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566160" y="822960"/>
            <a:ext cx="1828800" cy="411480"/>
          </a:xfrm>
          <a:prstGeom prst="rect">
            <a:avLst/>
          </a:prstGeom>
          <a:solidFill>
            <a:srgbClr val="34D399">
              <a:alpha val="85000"/>
            </a:srgbClr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11880" y="822960"/>
            <a:ext cx="1737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OpenAI Codex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440680" y="822960"/>
            <a:ext cx="1828800" cy="411480"/>
          </a:xfrm>
          <a:prstGeom prst="rect">
            <a:avLst/>
          </a:prstGeom>
          <a:solidFill>
            <a:srgbClr val="FBBF24">
              <a:alpha val="85000"/>
            </a:srgbClr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486400" y="822960"/>
            <a:ext cx="1737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Gemini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7315200" y="822960"/>
            <a:ext cx="1760220" cy="411480"/>
          </a:xfrm>
          <a:prstGeom prst="rect">
            <a:avLst/>
          </a:prstGeom>
          <a:solidFill>
            <a:srgbClr val="A78BFA">
              <a:alpha val="85000"/>
            </a:srgbClr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360920" y="822960"/>
            <a:ext cx="1678349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Antigravity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228600" y="1280160"/>
            <a:ext cx="1417320" cy="585216"/>
          </a:xfrm>
          <a:prstGeom prst="rect">
            <a:avLst/>
          </a:prstGeom>
          <a:solidFill>
            <a:srgbClr val="252D4D"/>
          </a:solidFill>
          <a:ln w="12700">
            <a:solidFill>
              <a:srgbClr val="2A306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92608" y="1280160"/>
            <a:ext cx="1289304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8DCF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AI Guide Docs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1691640" y="1280160"/>
            <a:ext cx="1828800" cy="585216"/>
          </a:xfrm>
          <a:prstGeom prst="rect">
            <a:avLst/>
          </a:prstGeom>
          <a:solidFill>
            <a:srgbClr val="252D4D"/>
          </a:solidFill>
          <a:ln w="12700">
            <a:solidFill>
              <a:srgbClr val="2A306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755648" y="1280160"/>
            <a:ext cx="1700784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899B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CLAUDE.md (루트 자동로드)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3566160" y="1280160"/>
            <a:ext cx="1828800" cy="585216"/>
          </a:xfrm>
          <a:prstGeom prst="rect">
            <a:avLst/>
          </a:prstGeom>
          <a:solidFill>
            <a:srgbClr val="252D4D"/>
          </a:solidFill>
          <a:ln w="12700">
            <a:solidFill>
              <a:srgbClr val="2A306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30168" y="1280160"/>
            <a:ext cx="1700784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899B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AGENTS.md (루트)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5440680" y="1280160"/>
            <a:ext cx="1828800" cy="585216"/>
          </a:xfrm>
          <a:prstGeom prst="rect">
            <a:avLst/>
          </a:prstGeom>
          <a:solidFill>
            <a:srgbClr val="252D4D"/>
          </a:solidFill>
          <a:ln w="12700">
            <a:solidFill>
              <a:srgbClr val="2A306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504688" y="1280160"/>
            <a:ext cx="1700784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899B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GEMINI.md (루트)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7315200" y="1280160"/>
            <a:ext cx="1760220" cy="585216"/>
          </a:xfrm>
          <a:prstGeom prst="rect">
            <a:avLst/>
          </a:prstGeom>
          <a:solidFill>
            <a:srgbClr val="252D4D"/>
          </a:solidFill>
          <a:ln w="12700">
            <a:solidFill>
              <a:srgbClr val="2A306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379208" y="1280160"/>
            <a:ext cx="1645601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899B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GEMINI.md (루트)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228600" y="1901952"/>
            <a:ext cx="1417320" cy="585216"/>
          </a:xfrm>
          <a:prstGeom prst="rect">
            <a:avLst/>
          </a:prstGeom>
          <a:solidFill>
            <a:srgbClr val="1E2550"/>
          </a:solidFill>
          <a:ln w="12700">
            <a:solidFill>
              <a:srgbClr val="2A306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92608" y="1901952"/>
            <a:ext cx="1289304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8DCF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Skills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1691640" y="1901952"/>
            <a:ext cx="1828800" cy="585216"/>
          </a:xfrm>
          <a:prstGeom prst="rect">
            <a:avLst/>
          </a:prstGeom>
          <a:solidFill>
            <a:srgbClr val="1E2550"/>
          </a:solidFill>
          <a:ln w="12700">
            <a:solidFill>
              <a:srgbClr val="2A306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755648" y="1901952"/>
            <a:ext cx="1700784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899B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.claude/skills/*/SKILL.md</a:t>
            </a:r>
            <a:endParaRPr lang="en-US" sz="800" dirty="0"/>
          </a:p>
        </p:txBody>
      </p:sp>
      <p:sp>
        <p:nvSpPr>
          <p:cNvPr id="28" name="Shape 26"/>
          <p:cNvSpPr/>
          <p:nvPr/>
        </p:nvSpPr>
        <p:spPr>
          <a:xfrm>
            <a:off x="3566160" y="1901952"/>
            <a:ext cx="1828800" cy="585216"/>
          </a:xfrm>
          <a:prstGeom prst="rect">
            <a:avLst/>
          </a:prstGeom>
          <a:solidFill>
            <a:srgbClr val="1E2550"/>
          </a:solidFill>
          <a:ln w="12700">
            <a:solidFill>
              <a:srgbClr val="2A306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630168" y="1901952"/>
            <a:ext cx="1700784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899B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.agents/skills/*/SKILL.md</a:t>
            </a:r>
            <a:endParaRPr lang="en-US" sz="800" dirty="0"/>
          </a:p>
        </p:txBody>
      </p:sp>
      <p:sp>
        <p:nvSpPr>
          <p:cNvPr id="30" name="Shape 28"/>
          <p:cNvSpPr/>
          <p:nvPr/>
        </p:nvSpPr>
        <p:spPr>
          <a:xfrm>
            <a:off x="5440680" y="1901952"/>
            <a:ext cx="1828800" cy="585216"/>
          </a:xfrm>
          <a:prstGeom prst="rect">
            <a:avLst/>
          </a:prstGeom>
          <a:solidFill>
            <a:srgbClr val="1E2550"/>
          </a:solidFill>
          <a:ln w="12700">
            <a:solidFill>
              <a:srgbClr val="2A306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504688" y="1901952"/>
            <a:ext cx="1700784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899B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.agents/skills/*/SKILL.md</a:t>
            </a:r>
            <a:endParaRPr lang="en-US" sz="800" dirty="0"/>
          </a:p>
        </p:txBody>
      </p:sp>
      <p:sp>
        <p:nvSpPr>
          <p:cNvPr id="32" name="Shape 30"/>
          <p:cNvSpPr/>
          <p:nvPr/>
        </p:nvSpPr>
        <p:spPr>
          <a:xfrm>
            <a:off x="7315200" y="1901952"/>
            <a:ext cx="1760220" cy="585216"/>
          </a:xfrm>
          <a:prstGeom prst="rect">
            <a:avLst/>
          </a:prstGeom>
          <a:solidFill>
            <a:srgbClr val="1E2550"/>
          </a:solidFill>
          <a:ln w="12700">
            <a:solidFill>
              <a:srgbClr val="2A306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379208" y="1901952"/>
            <a:ext cx="1645601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899B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.agent/skills/*/SKILL.md</a:t>
            </a:r>
            <a:endParaRPr lang="en-US" sz="800" dirty="0"/>
          </a:p>
        </p:txBody>
      </p:sp>
      <p:sp>
        <p:nvSpPr>
          <p:cNvPr id="34" name="Shape 32"/>
          <p:cNvSpPr/>
          <p:nvPr/>
        </p:nvSpPr>
        <p:spPr>
          <a:xfrm>
            <a:off x="228600" y="2523744"/>
            <a:ext cx="1417320" cy="585216"/>
          </a:xfrm>
          <a:prstGeom prst="rect">
            <a:avLst/>
          </a:prstGeom>
          <a:solidFill>
            <a:srgbClr val="252D4D"/>
          </a:solidFill>
          <a:ln w="12700">
            <a:solidFill>
              <a:srgbClr val="2A306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292608" y="2523744"/>
            <a:ext cx="1289304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8DCF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Commands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1691640" y="2523744"/>
            <a:ext cx="1828800" cy="585216"/>
          </a:xfrm>
          <a:prstGeom prst="rect">
            <a:avLst/>
          </a:prstGeom>
          <a:solidFill>
            <a:srgbClr val="252D4D"/>
          </a:solidFill>
          <a:ln w="12700">
            <a:solidFill>
              <a:srgbClr val="2A306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1755648" y="2523744"/>
            <a:ext cx="1700784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899B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Skills에 통합 ✅</a:t>
            </a:r>
            <a:endParaRPr lang="en-US" sz="800" dirty="0"/>
          </a:p>
        </p:txBody>
      </p:sp>
      <p:sp>
        <p:nvSpPr>
          <p:cNvPr id="38" name="Shape 36"/>
          <p:cNvSpPr/>
          <p:nvPr/>
        </p:nvSpPr>
        <p:spPr>
          <a:xfrm>
            <a:off x="3566160" y="2523744"/>
            <a:ext cx="1828800" cy="585216"/>
          </a:xfrm>
          <a:prstGeom prst="rect">
            <a:avLst/>
          </a:prstGeom>
          <a:solidFill>
            <a:srgbClr val="252D4D"/>
          </a:solidFill>
          <a:ln w="12700">
            <a:solidFill>
              <a:srgbClr val="2A306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630168" y="2523744"/>
            <a:ext cx="1700784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899B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Skills에 통합 ✅</a:t>
            </a:r>
            <a:endParaRPr lang="en-US" sz="800" dirty="0"/>
          </a:p>
        </p:txBody>
      </p:sp>
      <p:sp>
        <p:nvSpPr>
          <p:cNvPr id="40" name="Shape 38"/>
          <p:cNvSpPr/>
          <p:nvPr/>
        </p:nvSpPr>
        <p:spPr>
          <a:xfrm>
            <a:off x="5440680" y="2523744"/>
            <a:ext cx="1828800" cy="585216"/>
          </a:xfrm>
          <a:prstGeom prst="rect">
            <a:avLst/>
          </a:prstGeom>
          <a:solidFill>
            <a:srgbClr val="252D4D"/>
          </a:solidFill>
          <a:ln w="12700">
            <a:solidFill>
              <a:srgbClr val="2A306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5504688" y="2523744"/>
            <a:ext cx="1700784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899B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.gemini/commands/*.toml ⚠️</a:t>
            </a:r>
            <a:endParaRPr lang="en-US" sz="800" dirty="0"/>
          </a:p>
        </p:txBody>
      </p:sp>
      <p:sp>
        <p:nvSpPr>
          <p:cNvPr id="42" name="Shape 40"/>
          <p:cNvSpPr/>
          <p:nvPr/>
        </p:nvSpPr>
        <p:spPr>
          <a:xfrm>
            <a:off x="7315200" y="2523744"/>
            <a:ext cx="1760220" cy="585216"/>
          </a:xfrm>
          <a:prstGeom prst="rect">
            <a:avLst/>
          </a:prstGeom>
          <a:solidFill>
            <a:srgbClr val="252D4D"/>
          </a:solidFill>
          <a:ln w="12700">
            <a:solidFill>
              <a:srgbClr val="2A306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7379208" y="2523744"/>
            <a:ext cx="1645601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899B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.agent/workflows/*.md ⚠️</a:t>
            </a:r>
            <a:endParaRPr lang="en-US" sz="800" dirty="0"/>
          </a:p>
        </p:txBody>
      </p:sp>
      <p:sp>
        <p:nvSpPr>
          <p:cNvPr id="44" name="Shape 42"/>
          <p:cNvSpPr/>
          <p:nvPr/>
        </p:nvSpPr>
        <p:spPr>
          <a:xfrm>
            <a:off x="228600" y="3145536"/>
            <a:ext cx="1417320" cy="585216"/>
          </a:xfrm>
          <a:prstGeom prst="rect">
            <a:avLst/>
          </a:prstGeom>
          <a:solidFill>
            <a:srgbClr val="1E2550"/>
          </a:solidFill>
          <a:ln w="12700">
            <a:solidFill>
              <a:srgbClr val="2A3060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292608" y="3145536"/>
            <a:ext cx="1289304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8DCF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Hooks</a:t>
            </a:r>
            <a:endParaRPr lang="en-US" sz="1200" dirty="0"/>
          </a:p>
        </p:txBody>
      </p:sp>
      <p:sp>
        <p:nvSpPr>
          <p:cNvPr id="46" name="Shape 44"/>
          <p:cNvSpPr/>
          <p:nvPr/>
        </p:nvSpPr>
        <p:spPr>
          <a:xfrm>
            <a:off x="1691640" y="3145536"/>
            <a:ext cx="1828800" cy="585216"/>
          </a:xfrm>
          <a:prstGeom prst="rect">
            <a:avLst/>
          </a:prstGeom>
          <a:solidFill>
            <a:srgbClr val="1E2550"/>
          </a:solidFill>
          <a:ln w="12700">
            <a:solidFill>
              <a:srgbClr val="2A3060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1755648" y="3145536"/>
            <a:ext cx="1700784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899B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.claude/skills/ + 별도스크립트</a:t>
            </a:r>
            <a:endParaRPr lang="en-US" sz="800" dirty="0"/>
          </a:p>
        </p:txBody>
      </p:sp>
      <p:sp>
        <p:nvSpPr>
          <p:cNvPr id="48" name="Shape 46"/>
          <p:cNvSpPr/>
          <p:nvPr/>
        </p:nvSpPr>
        <p:spPr>
          <a:xfrm>
            <a:off x="3566160" y="3145536"/>
            <a:ext cx="1828800" cy="585216"/>
          </a:xfrm>
          <a:prstGeom prst="rect">
            <a:avLst/>
          </a:prstGeom>
          <a:solidFill>
            <a:srgbClr val="1E2550"/>
          </a:solidFill>
          <a:ln w="12700">
            <a:solidFill>
              <a:srgbClr val="2A3060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3630168" y="3145536"/>
            <a:ext cx="1700784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899B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별도 스크립트 작성</a:t>
            </a:r>
            <a:endParaRPr lang="en-US" sz="800" dirty="0"/>
          </a:p>
        </p:txBody>
      </p:sp>
      <p:sp>
        <p:nvSpPr>
          <p:cNvPr id="50" name="Shape 48"/>
          <p:cNvSpPr/>
          <p:nvPr/>
        </p:nvSpPr>
        <p:spPr>
          <a:xfrm>
            <a:off x="5440680" y="3145536"/>
            <a:ext cx="1828800" cy="585216"/>
          </a:xfrm>
          <a:prstGeom prst="rect">
            <a:avLst/>
          </a:prstGeom>
          <a:solidFill>
            <a:srgbClr val="1E2550"/>
          </a:solidFill>
          <a:ln w="12700">
            <a:solidFill>
              <a:srgbClr val="2A3060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5504688" y="3145536"/>
            <a:ext cx="1700784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899B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별도 스크립트 작성</a:t>
            </a:r>
            <a:endParaRPr lang="en-US" sz="800" dirty="0"/>
          </a:p>
        </p:txBody>
      </p:sp>
      <p:sp>
        <p:nvSpPr>
          <p:cNvPr id="52" name="Shape 50"/>
          <p:cNvSpPr/>
          <p:nvPr/>
        </p:nvSpPr>
        <p:spPr>
          <a:xfrm>
            <a:off x="7315200" y="3145536"/>
            <a:ext cx="1760220" cy="585216"/>
          </a:xfrm>
          <a:prstGeom prst="rect">
            <a:avLst/>
          </a:prstGeom>
          <a:solidFill>
            <a:srgbClr val="1E2550"/>
          </a:solidFill>
          <a:ln w="12700">
            <a:solidFill>
              <a:srgbClr val="2A3060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7379208" y="3145536"/>
            <a:ext cx="1645601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899B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IDE Workflow 활용</a:t>
            </a:r>
            <a:endParaRPr lang="en-US" sz="800" dirty="0"/>
          </a:p>
        </p:txBody>
      </p:sp>
      <p:sp>
        <p:nvSpPr>
          <p:cNvPr id="54" name="Shape 52"/>
          <p:cNvSpPr/>
          <p:nvPr/>
        </p:nvSpPr>
        <p:spPr>
          <a:xfrm>
            <a:off x="228600" y="3767328"/>
            <a:ext cx="1417320" cy="585216"/>
          </a:xfrm>
          <a:prstGeom prst="rect">
            <a:avLst/>
          </a:prstGeom>
          <a:solidFill>
            <a:srgbClr val="252D4D"/>
          </a:solidFill>
          <a:ln w="12700">
            <a:solidFill>
              <a:srgbClr val="2A3060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292608" y="3767328"/>
            <a:ext cx="1289304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8DCF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MCP</a:t>
            </a:r>
            <a:endParaRPr lang="en-US" sz="1200" dirty="0"/>
          </a:p>
        </p:txBody>
      </p:sp>
      <p:sp>
        <p:nvSpPr>
          <p:cNvPr id="56" name="Shape 54"/>
          <p:cNvSpPr/>
          <p:nvPr/>
        </p:nvSpPr>
        <p:spPr>
          <a:xfrm>
            <a:off x="1691640" y="3767328"/>
            <a:ext cx="1828800" cy="585216"/>
          </a:xfrm>
          <a:prstGeom prst="rect">
            <a:avLst/>
          </a:prstGeom>
          <a:solidFill>
            <a:srgbClr val="252D4D"/>
          </a:solidFill>
          <a:ln w="12700">
            <a:solidFill>
              <a:srgbClr val="2A3060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1755648" y="3767328"/>
            <a:ext cx="1700784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899B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~/.claude.json / .claude.json</a:t>
            </a:r>
            <a:endParaRPr lang="en-US" sz="800" dirty="0"/>
          </a:p>
        </p:txBody>
      </p:sp>
      <p:sp>
        <p:nvSpPr>
          <p:cNvPr id="58" name="Shape 56"/>
          <p:cNvSpPr/>
          <p:nvPr/>
        </p:nvSpPr>
        <p:spPr>
          <a:xfrm>
            <a:off x="3566160" y="3767328"/>
            <a:ext cx="1828800" cy="585216"/>
          </a:xfrm>
          <a:prstGeom prst="rect">
            <a:avLst/>
          </a:prstGeom>
          <a:solidFill>
            <a:srgbClr val="252D4D"/>
          </a:solidFill>
          <a:ln w="12700">
            <a:solidFill>
              <a:srgbClr val="2A3060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3630168" y="3767328"/>
            <a:ext cx="1700784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899B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.codex/config.toml</a:t>
            </a:r>
            <a:endParaRPr lang="en-US" sz="800" dirty="0"/>
          </a:p>
        </p:txBody>
      </p:sp>
      <p:sp>
        <p:nvSpPr>
          <p:cNvPr id="60" name="Shape 58"/>
          <p:cNvSpPr/>
          <p:nvPr/>
        </p:nvSpPr>
        <p:spPr>
          <a:xfrm>
            <a:off x="5440680" y="3767328"/>
            <a:ext cx="1828800" cy="585216"/>
          </a:xfrm>
          <a:prstGeom prst="rect">
            <a:avLst/>
          </a:prstGeom>
          <a:solidFill>
            <a:srgbClr val="252D4D"/>
          </a:solidFill>
          <a:ln w="12700">
            <a:solidFill>
              <a:srgbClr val="2A3060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5504688" y="3767328"/>
            <a:ext cx="1700784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899B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~/.gemini/settings.json</a:t>
            </a:r>
            <a:endParaRPr lang="en-US" sz="800" dirty="0"/>
          </a:p>
        </p:txBody>
      </p:sp>
      <p:sp>
        <p:nvSpPr>
          <p:cNvPr id="62" name="Shape 60"/>
          <p:cNvSpPr/>
          <p:nvPr/>
        </p:nvSpPr>
        <p:spPr>
          <a:xfrm>
            <a:off x="7315200" y="3767328"/>
            <a:ext cx="1760220" cy="585216"/>
          </a:xfrm>
          <a:prstGeom prst="rect">
            <a:avLst/>
          </a:prstGeom>
          <a:solidFill>
            <a:srgbClr val="252D4D"/>
          </a:solidFill>
          <a:ln w="12700">
            <a:solidFill>
              <a:srgbClr val="2A3060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7379208" y="3767328"/>
            <a:ext cx="1645601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899B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IDE 내장 UI</a:t>
            </a:r>
            <a:endParaRPr lang="en-US" sz="800" dirty="0"/>
          </a:p>
        </p:txBody>
      </p:sp>
      <p:sp>
        <p:nvSpPr>
          <p:cNvPr id="64" name="Shape 62"/>
          <p:cNvSpPr/>
          <p:nvPr/>
        </p:nvSpPr>
        <p:spPr>
          <a:xfrm>
            <a:off x="228600" y="4389120"/>
            <a:ext cx="1417320" cy="585216"/>
          </a:xfrm>
          <a:prstGeom prst="rect">
            <a:avLst/>
          </a:prstGeom>
          <a:solidFill>
            <a:srgbClr val="1E2550"/>
          </a:solidFill>
          <a:ln w="12700">
            <a:solidFill>
              <a:srgbClr val="2A3060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292608" y="4389120"/>
            <a:ext cx="1289304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8DCF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Subagent</a:t>
            </a:r>
            <a:endParaRPr lang="en-US" sz="1200" dirty="0"/>
          </a:p>
        </p:txBody>
      </p:sp>
      <p:sp>
        <p:nvSpPr>
          <p:cNvPr id="66" name="Shape 64"/>
          <p:cNvSpPr/>
          <p:nvPr/>
        </p:nvSpPr>
        <p:spPr>
          <a:xfrm>
            <a:off x="1691640" y="4389120"/>
            <a:ext cx="1828800" cy="585216"/>
          </a:xfrm>
          <a:prstGeom prst="rect">
            <a:avLst/>
          </a:prstGeom>
          <a:solidFill>
            <a:srgbClr val="1E2550"/>
          </a:solidFill>
          <a:ln w="12700">
            <a:solidFill>
              <a:srgbClr val="2A3060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1755648" y="4389120"/>
            <a:ext cx="1700784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899B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.claude/agents/*.md  🟢 정식</a:t>
            </a:r>
            <a:endParaRPr lang="en-US" sz="800" dirty="0"/>
          </a:p>
        </p:txBody>
      </p:sp>
      <p:sp>
        <p:nvSpPr>
          <p:cNvPr id="68" name="Shape 66"/>
          <p:cNvSpPr/>
          <p:nvPr/>
        </p:nvSpPr>
        <p:spPr>
          <a:xfrm>
            <a:off x="3566160" y="4389120"/>
            <a:ext cx="1828800" cy="585216"/>
          </a:xfrm>
          <a:prstGeom prst="rect">
            <a:avLst/>
          </a:prstGeom>
          <a:solidFill>
            <a:srgbClr val="1E2550"/>
          </a:solidFill>
          <a:ln w="12700">
            <a:solidFill>
              <a:srgbClr val="2A3060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3630168" y="4389120"/>
            <a:ext cx="1700784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899B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실험적 지원 🟡</a:t>
            </a:r>
            <a:endParaRPr lang="en-US" sz="800" dirty="0"/>
          </a:p>
        </p:txBody>
      </p:sp>
      <p:sp>
        <p:nvSpPr>
          <p:cNvPr id="70" name="Shape 68"/>
          <p:cNvSpPr/>
          <p:nvPr/>
        </p:nvSpPr>
        <p:spPr>
          <a:xfrm>
            <a:off x="5440680" y="4389120"/>
            <a:ext cx="1828800" cy="585216"/>
          </a:xfrm>
          <a:prstGeom prst="rect">
            <a:avLst/>
          </a:prstGeom>
          <a:solidFill>
            <a:srgbClr val="1E2550"/>
          </a:solidFill>
          <a:ln w="12700">
            <a:solidFill>
              <a:srgbClr val="2A3060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5504688" y="4389120"/>
            <a:ext cx="1700784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899B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실험적 지원 🟡</a:t>
            </a:r>
            <a:endParaRPr lang="en-US" sz="800" dirty="0"/>
          </a:p>
        </p:txBody>
      </p:sp>
      <p:sp>
        <p:nvSpPr>
          <p:cNvPr id="72" name="Shape 70"/>
          <p:cNvSpPr/>
          <p:nvPr/>
        </p:nvSpPr>
        <p:spPr>
          <a:xfrm>
            <a:off x="7315200" y="4389120"/>
            <a:ext cx="1760220" cy="585216"/>
          </a:xfrm>
          <a:prstGeom prst="rect">
            <a:avLst/>
          </a:prstGeom>
          <a:solidFill>
            <a:srgbClr val="1E2550"/>
          </a:solidFill>
          <a:ln w="12700">
            <a:solidFill>
              <a:srgbClr val="2A3060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7379208" y="4389120"/>
            <a:ext cx="1645601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899B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미지원 🔴</a:t>
            </a:r>
            <a:endParaRPr lang="en-US" sz="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A1F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79492"/>
            <a:ext cx="9144000" cy="64008"/>
          </a:xfrm>
          <a:prstGeom prst="rect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8288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핵심 정리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457200" y="77724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8899BB"/>
                </a:solidFill>
              </a:rPr>
              <a:t>모든 구성 요소가 필수는 아닙니다 — 규모·비용·시간을 고려해 적절히 선택하세요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65760" y="1298448"/>
            <a:ext cx="2651760" cy="1353312"/>
          </a:xfrm>
          <a:prstGeom prst="rect">
            <a:avLst/>
          </a:prstGeom>
          <a:solidFill>
            <a:srgbClr val="252D4D"/>
          </a:solidFill>
          <a:ln w="19050">
            <a:solidFill>
              <a:srgbClr val="4FC3F7"/>
            </a:solidFill>
            <a:prstDash val="solid"/>
          </a:ln>
          <a:effectLst>
            <a:outerShdw blurRad="101600" dist="254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65760" y="1298448"/>
            <a:ext cx="2651760" cy="54864"/>
          </a:xfrm>
          <a:prstGeom prst="rect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93776" y="1435608"/>
            <a:ext cx="402336" cy="402336"/>
          </a:xfrm>
          <a:prstGeom prst="ellipse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93776" y="1435608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A1F3A"/>
                </a:solidFill>
              </a:rPr>
              <a:t>01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987552" y="1435608"/>
            <a:ext cx="19019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4FC3F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흐름 파악이 핵심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93776" y="1920240"/>
            <a:ext cx="239572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구성 요소가 어떻게 연결되는지 이해하는 것이 단순 사용보다 중요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246120" y="1298448"/>
            <a:ext cx="2651760" cy="1353312"/>
          </a:xfrm>
          <a:prstGeom prst="rect">
            <a:avLst/>
          </a:prstGeom>
          <a:solidFill>
            <a:srgbClr val="252D4D"/>
          </a:solidFill>
          <a:ln w="19050">
            <a:solidFill>
              <a:srgbClr val="34D399"/>
            </a:solidFill>
            <a:prstDash val="solid"/>
          </a:ln>
          <a:effectLst>
            <a:outerShdw blurRad="101600" dist="254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246120" y="1298448"/>
            <a:ext cx="2651760" cy="54864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374136" y="1435608"/>
            <a:ext cx="402336" cy="402336"/>
          </a:xfrm>
          <a:prstGeom prst="ellipse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374136" y="1435608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A1F3A"/>
                </a:solidFill>
              </a:rPr>
              <a:t>02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3867912" y="1435608"/>
            <a:ext cx="19019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4D399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AI Docs가 기반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3374136" y="1920240"/>
            <a:ext cx="239572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CLAUDE.md 하나만 잘 써도 AI의 코딩 일관성이 크게 향상됨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126480" y="1298448"/>
            <a:ext cx="2651760" cy="1353312"/>
          </a:xfrm>
          <a:prstGeom prst="rect">
            <a:avLst/>
          </a:prstGeom>
          <a:solidFill>
            <a:srgbClr val="252D4D"/>
          </a:solidFill>
          <a:ln w="19050">
            <a:solidFill>
              <a:srgbClr val="FBBF24"/>
            </a:solidFill>
            <a:prstDash val="solid"/>
          </a:ln>
          <a:effectLst>
            <a:outerShdw blurRad="101600" dist="254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126480" y="1298448"/>
            <a:ext cx="2651760" cy="54864"/>
          </a:xfrm>
          <a:prstGeom prst="rect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254496" y="1435608"/>
            <a:ext cx="402336" cy="402336"/>
          </a:xfrm>
          <a:prstGeom prst="ellipse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254496" y="1435608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A1F3A"/>
                </a:solidFill>
              </a:rPr>
              <a:t>03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748272" y="1435608"/>
            <a:ext cx="19019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BBF2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Skills = 토큰 절약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6254496" y="1920240"/>
            <a:ext cx="239572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/명령어로 긴 프롬프트를 대체. 반복 작업은 Skills로 정의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365760" y="2816352"/>
            <a:ext cx="2651760" cy="1353312"/>
          </a:xfrm>
          <a:prstGeom prst="rect">
            <a:avLst/>
          </a:prstGeom>
          <a:solidFill>
            <a:srgbClr val="252D4D"/>
          </a:solidFill>
          <a:ln w="19050">
            <a:solidFill>
              <a:srgbClr val="A78BFA"/>
            </a:solidFill>
            <a:prstDash val="solid"/>
          </a:ln>
          <a:effectLst>
            <a:outerShdw blurRad="101600" dist="254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365760" y="2816352"/>
            <a:ext cx="2651760" cy="54864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93776" y="2953512"/>
            <a:ext cx="402336" cy="402336"/>
          </a:xfrm>
          <a:prstGeom prst="ellipse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93776" y="2953512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A1F3A"/>
                </a:solidFill>
              </a:rPr>
              <a:t>04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987552" y="2953512"/>
            <a:ext cx="19019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A78BF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Subagent는 Claude만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493776" y="3438144"/>
            <a:ext cx="239572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2026.02 기준 Production-ready는 Claude Code뿐. 타도구는 실험적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3246120" y="2816352"/>
            <a:ext cx="2651760" cy="1353312"/>
          </a:xfrm>
          <a:prstGeom prst="rect">
            <a:avLst/>
          </a:prstGeom>
          <a:solidFill>
            <a:srgbClr val="252D4D"/>
          </a:solidFill>
          <a:ln w="19050">
            <a:solidFill>
              <a:srgbClr val="F472B6"/>
            </a:solidFill>
            <a:prstDash val="solid"/>
          </a:ln>
          <a:effectLst>
            <a:outerShdw blurRad="101600" dist="254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3246120" y="2816352"/>
            <a:ext cx="2651760" cy="54864"/>
          </a:xfrm>
          <a:prstGeom prst="rect">
            <a:avLst/>
          </a:prstGeom>
          <a:solidFill>
            <a:srgbClr val="F472B6"/>
          </a:solidFill>
          <a:ln w="12700">
            <a:solidFill>
              <a:srgbClr val="F472B6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3374136" y="2953512"/>
            <a:ext cx="402336" cy="402336"/>
          </a:xfrm>
          <a:prstGeom prst="ellipse">
            <a:avLst/>
          </a:prstGeom>
          <a:solidFill>
            <a:srgbClr val="F472B6"/>
          </a:solidFill>
          <a:ln w="12700">
            <a:solidFill>
              <a:srgbClr val="F472B6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374136" y="2953512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A1F3A"/>
                </a:solidFill>
              </a:rPr>
              <a:t>05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3867912" y="2953512"/>
            <a:ext cx="19019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 err="1">
                <a:solidFill>
                  <a:srgbClr val="F472B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Hooks는</a:t>
            </a:r>
            <a:r>
              <a:rPr lang="en-US" sz="1200" b="1" dirty="0">
                <a:solidFill>
                  <a:srgbClr val="F472B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 </a:t>
            </a:r>
            <a:r>
              <a:rPr lang="ko-KR" altLang="en-US" sz="1200" b="1" dirty="0">
                <a:solidFill>
                  <a:srgbClr val="F472B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트리거</a:t>
            </a:r>
            <a:r>
              <a:rPr lang="en-US" sz="1200" b="1" dirty="0">
                <a:solidFill>
                  <a:srgbClr val="F472B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 필요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3374136" y="3438144"/>
            <a:ext cx="239572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자동 실행은 Git Hook 등 외부 트리거 연동 + </a:t>
            </a:r>
            <a:r>
              <a:rPr lang="en-US" sz="1200" dirty="0" err="1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직접</a:t>
            </a:r>
            <a:r>
              <a:rPr lang="en-US" sz="1200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 err="1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스크립트</a:t>
            </a:r>
            <a:r>
              <a:rPr lang="en-US" sz="1200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ko-KR" altLang="en-US" sz="1200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또는 호출 필요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6126480" y="2816352"/>
            <a:ext cx="2651760" cy="1353312"/>
          </a:xfrm>
          <a:prstGeom prst="rect">
            <a:avLst/>
          </a:prstGeom>
          <a:solidFill>
            <a:srgbClr val="252D4D"/>
          </a:solidFill>
          <a:ln w="19050">
            <a:solidFill>
              <a:srgbClr val="2DD4BF"/>
            </a:solidFill>
            <a:prstDash val="solid"/>
          </a:ln>
          <a:effectLst>
            <a:outerShdw blurRad="101600" dist="254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6126480" y="2816352"/>
            <a:ext cx="2651760" cy="54864"/>
          </a:xfrm>
          <a:prstGeom prst="rect">
            <a:avLst/>
          </a:prstGeom>
          <a:solidFill>
            <a:srgbClr val="2DD4BF"/>
          </a:solidFill>
          <a:ln w="12700">
            <a:solidFill>
              <a:srgbClr val="2DD4BF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6254496" y="2953512"/>
            <a:ext cx="402336" cy="402336"/>
          </a:xfrm>
          <a:prstGeom prst="ellipse">
            <a:avLst/>
          </a:prstGeom>
          <a:solidFill>
            <a:srgbClr val="2DD4BF"/>
          </a:solidFill>
          <a:ln w="12700">
            <a:solidFill>
              <a:srgbClr val="2DD4BF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254496" y="2953512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A1F3A"/>
                </a:solidFill>
              </a:rPr>
              <a:t>06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6748272" y="2953512"/>
            <a:ext cx="19019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DD4B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도구마다 방식이 다름</a:t>
            </a:r>
            <a:endParaRPr lang="en-US" sz="1200" dirty="0"/>
          </a:p>
        </p:txBody>
      </p:sp>
      <p:sp>
        <p:nvSpPr>
          <p:cNvPr id="41" name="Text 39"/>
          <p:cNvSpPr/>
          <p:nvPr/>
        </p:nvSpPr>
        <p:spPr>
          <a:xfrm>
            <a:off x="6254496" y="3438144"/>
            <a:ext cx="239572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Claude·Codex는 통합, Gemini·Antigravity는 Commands 별도 작성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119</TotalTime>
  <Words>2423</Words>
  <Application>Microsoft Office PowerPoint</Application>
  <PresentationFormat>화면 슬라이드 쇼(16:9)</PresentationFormat>
  <Paragraphs>365</Paragraphs>
  <Slides>14</Slides>
  <Notes>14</Notes>
  <HiddenSlides>0</HiddenSlides>
  <MMClips>0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14</vt:i4>
      </vt:variant>
    </vt:vector>
  </HeadingPairs>
  <TitlesOfParts>
    <vt:vector size="20" baseType="lpstr">
      <vt:lpstr>맑은 고딕</vt:lpstr>
      <vt:lpstr>Arial</vt:lpstr>
      <vt:lpstr>Arial Black</vt:lpstr>
      <vt:lpstr>Calibri</vt:lpstr>
      <vt:lpstr>Consolas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 Agent 완전 가이드 v3</dc:title>
  <dc:subject>PptxGenJS Presentation</dc:subject>
  <dc:creator>PptxGenJS</dc:creator>
  <cp:lastModifiedBy>현범 이</cp:lastModifiedBy>
  <cp:revision>16</cp:revision>
  <dcterms:created xsi:type="dcterms:W3CDTF">2026-02-23T07:17:00Z</dcterms:created>
  <dcterms:modified xsi:type="dcterms:W3CDTF">2026-02-24T05:55:05Z</dcterms:modified>
</cp:coreProperties>
</file>